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8" r:id="rId4"/>
    <p:sldId id="259" r:id="rId5"/>
    <p:sldId id="260" r:id="rId6"/>
    <p:sldId id="262" r:id="rId7"/>
    <p:sldId id="261" r:id="rId8"/>
    <p:sldId id="264" r:id="rId9"/>
    <p:sldId id="263" r:id="rId10"/>
    <p:sldId id="282" r:id="rId11"/>
    <p:sldId id="265" r:id="rId12"/>
    <p:sldId id="266" r:id="rId13"/>
    <p:sldId id="267" r:id="rId14"/>
    <p:sldId id="283" r:id="rId15"/>
    <p:sldId id="284" r:id="rId16"/>
    <p:sldId id="285" r:id="rId17"/>
    <p:sldId id="286" r:id="rId18"/>
    <p:sldId id="275" r:id="rId19"/>
    <p:sldId id="280" r:id="rId20"/>
    <p:sldId id="277"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1D4B"/>
    <a:srgbClr val="D9D9D9"/>
    <a:srgbClr val="9A41A9"/>
    <a:srgbClr val="953E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20" autoAdjust="0"/>
  </p:normalViewPr>
  <p:slideViewPr>
    <p:cSldViewPr snapToGrid="0">
      <p:cViewPr varScale="1">
        <p:scale>
          <a:sx n="86" d="100"/>
          <a:sy n="86" d="100"/>
        </p:scale>
        <p:origin x="1434" y="3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951FA-A9A0-96C5-34AD-F2413486DD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865EB2-0405-9665-5650-52E80E0711B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AC4A36B-68A2-D883-F8A5-D40A96DB26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A2FC67-81C3-6D61-8DA5-413234B8DE0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32F1F16-6ED8-23C1-5A57-6085932F60F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AEE1C7EE-3468-F1F8-24F4-A526DCC7BE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16BAF8B-6A9A-4B26-85A5-B54EEADDA08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5982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6271-FC44-249D-5881-29D95DF4F22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F8DE2A-590A-482B-4BFD-A25F5DB44F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BDA812B-704C-D1EB-7E52-4AE98AB544D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BC252DC-36BC-138E-BC52-128EB4992AA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29F7C88-B392-FF7A-3E91-A440A8CB251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A7510BF-EEB7-9874-9129-187CD8D130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673B5A6-BD0B-0612-5432-BB18EF6B9BB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94167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A1949-1017-355A-70AE-4AD60291028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C8C17D-675C-1EAC-7FD0-A53B73A0DB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81913F1-2F18-7A9E-FF15-C9AB18881AD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BCFB49A-82B5-DC7C-AE2E-CADAFABA503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9219C87-4F47-9A40-25D1-366E27F9C8E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BA86517-B5CC-3FE1-AF3B-79A821A7A55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A839E43-935F-477E-1FCB-49BF1021BE9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48095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AFCF-D467-EB5A-0626-DEA18D3E669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9AF348-F7E2-00C4-472C-13986DDBF8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6BEE91C-4550-76CA-29AF-E5262F06F9D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33B0799-2512-0956-2E5D-DCEC9BE6D0D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254209B-7EB7-2EC3-8ED6-40F8991AD63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00CED023-07CF-EF77-8314-F57CFD859DD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4AD3E6C-21A9-9609-F004-9B4CDB9F9D5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89292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97CBC-93F1-9FB8-2EEC-E6C57A01594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DC8F21-9AE8-D767-05FB-462D434B40A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C9EF99A-47F5-7CE4-430E-D99FEC20978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151049C-720F-2E38-EEEB-0FE94907EC0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C2E92D4-A374-EF0F-5744-115A01389B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13372403-3FC1-61EB-8C59-2ECF7DC5BD9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6850A1A-15C4-7A92-8B80-F0190838B02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29730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A18F6-1D08-D6E3-7F61-D5CFEC4331E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FCF6B-21AA-0720-274E-FC2BD57161F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F592F3C-7BA4-5C83-9051-350AAF5C7D7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3A22DF8-8691-03F6-54B9-3926EC10ABE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6246F2C-C616-C86C-DF6F-92987D09C8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2216D05A-3974-D59B-AB0F-F8D10A82ADF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458BC87-D473-62AA-A527-C71C47D9AB2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31355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88383"/>
            <a:ext cx="12192000" cy="7136780"/>
          </a:xfrm>
          <a:prstGeom prst="roundRect">
            <a:avLst>
              <a:gd name="adj" fmla="val 0"/>
            </a:avLst>
          </a:prstGeom>
          <a:solidFill>
            <a:schemeClr val="bg1">
              <a:lumMod val="85000"/>
            </a:schemeClr>
          </a:solidFill>
          <a:ln w="25400" cap="flat" cmpd="sng">
            <a:noFill/>
            <a:prstDash val="solid"/>
            <a:round/>
          </a:ln>
        </p:spPr>
        <p:txBody>
          <a:bodyPr vert="horz" wrap="square" lIns="63500" tIns="63500" rIns="63500" bIns="63500" rtlCol="0" anchor="ctr">
            <a:normAutofit/>
          </a:bodyPr>
          <a:lstStyle/>
          <a:p>
            <a:pPr algn="ctr">
              <a:defRPr/>
            </a:pPr>
            <a:endParaRPr dirty="0"/>
          </a:p>
        </p:txBody>
      </p:sp>
      <p:sp>
        <p:nvSpPr>
          <p:cNvPr id="3" name="AutoShape 3"/>
          <p:cNvSpPr/>
          <p:nvPr/>
        </p:nvSpPr>
        <p:spPr>
          <a:xfrm>
            <a:off x="918117" y="578293"/>
            <a:ext cx="10668000" cy="8432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4200" b="1" dirty="0">
                <a:solidFill>
                  <a:srgbClr val="53195D"/>
                </a:solidFill>
                <a:latin typeface="Montserrat"/>
                <a:sym typeface="Montserrat"/>
              </a:rPr>
              <a:t>Retail Business Analysis Dashboard </a:t>
            </a:r>
            <a:endParaRPr lang="en-US" sz="1100" dirty="0"/>
          </a:p>
        </p:txBody>
      </p:sp>
      <p:sp>
        <p:nvSpPr>
          <p:cNvPr id="6" name="AutoShape 6"/>
          <p:cNvSpPr/>
          <p:nvPr/>
        </p:nvSpPr>
        <p:spPr>
          <a:xfrm>
            <a:off x="762000" y="6223000"/>
            <a:ext cx="5080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endParaRPr lang="en-US" sz="1100" dirty="0"/>
          </a:p>
        </p:txBody>
      </p:sp>
      <p:sp>
        <p:nvSpPr>
          <p:cNvPr id="7" name="AutoShape 7"/>
          <p:cNvSpPr/>
          <p:nvPr/>
        </p:nvSpPr>
        <p:spPr>
          <a:xfrm>
            <a:off x="10160000" y="6223000"/>
            <a:ext cx="1270000" cy="508000"/>
          </a:xfrm>
          <a:prstGeom prst="rect">
            <a:avLst/>
          </a:prstGeom>
          <a:noFill/>
          <a:ln w="12700" cap="flat" cmpd="sng">
            <a:noFill/>
            <a:prstDash val="solid"/>
            <a:round/>
          </a:ln>
        </p:spPr>
        <p:txBody>
          <a:bodyPr vert="horz" wrap="square" lIns="0" tIns="0" rIns="0" bIns="0" rtlCol="0" anchor="t" anchorCtr="0">
            <a:normAutofit/>
          </a:bodyPr>
          <a:lstStyle/>
          <a:p>
            <a:pPr indent="0" algn="r">
              <a:lnSpc>
                <a:spcPct val="125000"/>
              </a:lnSpc>
              <a:defRPr/>
            </a:pPr>
            <a:endParaRPr lang="en-US" sz="1100" dirty="0"/>
          </a:p>
        </p:txBody>
      </p:sp>
      <p:sp>
        <p:nvSpPr>
          <p:cNvPr id="5" name="AutoShape 5"/>
          <p:cNvSpPr/>
          <p:nvPr/>
        </p:nvSpPr>
        <p:spPr>
          <a:xfrm>
            <a:off x="0" y="3657600"/>
            <a:ext cx="12192000" cy="3190797"/>
          </a:xfrm>
          <a:prstGeom prst="roundRect">
            <a:avLst>
              <a:gd name="adj" fmla="val 732"/>
            </a:avLst>
          </a:prstGeom>
          <a:solidFill>
            <a:srgbClr val="441D4B">
              <a:alpha val="89804"/>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endParaRPr lang="en-US" sz="1100" dirty="0"/>
          </a:p>
        </p:txBody>
      </p:sp>
      <p:pic>
        <p:nvPicPr>
          <p:cNvPr id="15" name="Picture 14">
            <a:extLst>
              <a:ext uri="{FF2B5EF4-FFF2-40B4-BE49-F238E27FC236}">
                <a16:creationId xmlns:a16="http://schemas.microsoft.com/office/drawing/2014/main" id="{467D42C5-FBA3-C33A-3F2C-6D7A6B34AD19}"/>
              </a:ext>
            </a:extLst>
          </p:cNvPr>
          <p:cNvPicPr>
            <a:picLocks noChangeAspect="1"/>
          </p:cNvPicPr>
          <p:nvPr/>
        </p:nvPicPr>
        <p:blipFill>
          <a:blip r:embed="rId3"/>
          <a:stretch>
            <a:fillRect/>
          </a:stretch>
        </p:blipFill>
        <p:spPr>
          <a:xfrm>
            <a:off x="1170878" y="1769320"/>
            <a:ext cx="9868829" cy="4537691"/>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dirty="0">
                <a:solidFill>
                  <a:srgbClr val="53195D"/>
                </a:solidFill>
                <a:latin typeface="Montserrat"/>
                <a:ea typeface="Montserrat"/>
                <a:cs typeface="Montserrat"/>
                <a:sym typeface="Montserrat"/>
              </a:rPr>
              <a:t>Project Overview</a:t>
            </a:r>
            <a:endParaRPr lang="en-US" sz="1100" dirty="0"/>
          </a:p>
        </p:txBody>
      </p:sp>
      <p:sp>
        <p:nvSpPr>
          <p:cNvPr id="6" name="AutoShape 6"/>
          <p:cNvSpPr/>
          <p:nvPr/>
        </p:nvSpPr>
        <p:spPr>
          <a:xfrm>
            <a:off x="761999" y="1851102"/>
            <a:ext cx="10824117" cy="3568391"/>
          </a:xfrm>
          <a:prstGeom prst="roundRect">
            <a:avLst>
              <a:gd name="adj" fmla="val 3076"/>
            </a:avLst>
          </a:prstGeom>
          <a:solidFill>
            <a:srgbClr val="441D4B">
              <a:alpha val="30196"/>
            </a:srgbClr>
          </a:solidFill>
          <a:ln w="25400" cap="flat" cmpd="sng">
            <a:noFill/>
            <a:prstDash val="solid"/>
            <a:round/>
          </a:ln>
        </p:spPr>
        <p:txBody>
          <a:bodyPr vert="horz" wrap="square" lIns="190500" tIns="254000" rIns="190500" bIns="0" rtlCol="0" anchor="t" anchorCtr="0">
            <a:normAutofit/>
          </a:bodyPr>
          <a:lstStyle/>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Retail business performance analysis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Focus on sales, pricing, discounts, and ratings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Data analyzed using SQL and Power BI</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Goal: generate actionable business insights</a:t>
            </a:r>
          </a:p>
          <a:p>
            <a:pPr indent="0" algn="ctr">
              <a:lnSpc>
                <a:spcPct val="125000"/>
              </a:lnSpc>
              <a:defRPr/>
            </a:pPr>
            <a:endParaRPr lang="en-US" sz="1100" dirty="0"/>
          </a:p>
          <a:p>
            <a:pPr indent="0" algn="ctr">
              <a:lnSpc>
                <a:spcPct val="125000"/>
              </a:lnSpc>
              <a:defRPr/>
            </a:pPr>
            <a:endParaRPr lang="en-US" sz="1100" dirty="0"/>
          </a:p>
          <a:p>
            <a:pPr indent="0" algn="ctr">
              <a:lnSpc>
                <a:spcPct val="125000"/>
              </a:lnSpc>
            </a:pPr>
            <a:endParaRPr lang="en-US" sz="1400" b="0" i="0" u="none" strike="noStrike" dirty="0">
              <a:solidFill>
                <a:srgbClr val="65636D"/>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dirty="0">
                <a:solidFill>
                  <a:srgbClr val="53195D"/>
                </a:solidFill>
                <a:latin typeface="Montserrat"/>
                <a:ea typeface="Montserrat"/>
                <a:cs typeface="Montserrat"/>
                <a:sym typeface="Montserrat"/>
              </a:rPr>
              <a:t>Problem Statement</a:t>
            </a:r>
            <a:endParaRPr lang="en-US" sz="1100" dirty="0"/>
          </a:p>
        </p:txBody>
      </p:sp>
      <p:sp>
        <p:nvSpPr>
          <p:cNvPr id="3" name="AutoShape 3"/>
          <p:cNvSpPr/>
          <p:nvPr/>
        </p:nvSpPr>
        <p:spPr>
          <a:xfrm>
            <a:off x="610892" y="1769717"/>
            <a:ext cx="10495722" cy="3318565"/>
          </a:xfrm>
          <a:prstGeom prst="roundRect">
            <a:avLst>
              <a:gd name="adj" fmla="val 6666"/>
            </a:avLst>
          </a:prstGeom>
          <a:solidFill>
            <a:srgbClr val="441D4B">
              <a:alpha val="30196"/>
            </a:srgbClr>
          </a:solidFill>
          <a:ln w="25400" cap="flat" cmpd="sng">
            <a:solidFill>
              <a:srgbClr val="953EA3">
                <a:alpha val="100000"/>
              </a:srgbClr>
            </a:solidFill>
            <a:prstDash val="solid"/>
            <a:round/>
          </a:ln>
        </p:spPr>
        <p:txBody>
          <a:bodyPr vert="horz" wrap="square" lIns="508000" tIns="0" rIns="508000" bIns="0" rtlCol="0" anchor="ctr" anchorCtr="0">
            <a:normAutofit/>
          </a:bodyPr>
          <a:lstStyle/>
          <a:p>
            <a:pPr algn="just">
              <a:lnSpc>
                <a:spcPct val="125000"/>
              </a:lnSpc>
              <a:defRPr/>
            </a:pPr>
            <a:r>
              <a:rPr lang="en-US" sz="2000" dirty="0"/>
              <a:t>Retail businesses handle large volumes of product data, but identifying what truly drives sales and customer value remains challenging. High discounts do not always guarantee customer satisfaction or profitability. Some categories have many products but contribute less to revenue, while others generate high sales with fewer items. Without clear insights, pricing and inventory decisions may be inefficient. This project addresses these challenges by analyzing sales, discounts, ratings, and value metrics to support data-driven retail decisions.</a:t>
            </a:r>
          </a:p>
          <a:p>
            <a:pPr indent="0" algn="just">
              <a:lnSpc>
                <a:spcPct val="125000"/>
              </a:lnSpc>
              <a:defRPr/>
            </a:pP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8" name="AutoShape 3">
            <a:extLst>
              <a:ext uri="{FF2B5EF4-FFF2-40B4-BE49-F238E27FC236}">
                <a16:creationId xmlns:a16="http://schemas.microsoft.com/office/drawing/2014/main" id="{DFE23C38-B53A-DA95-B8D4-6A4E5C569E49}"/>
              </a:ext>
            </a:extLst>
          </p:cNvPr>
          <p:cNvSpPr/>
          <p:nvPr/>
        </p:nvSpPr>
        <p:spPr>
          <a:xfrm>
            <a:off x="595515" y="1478155"/>
            <a:ext cx="10415381" cy="5084233"/>
          </a:xfrm>
          <a:prstGeom prst="roundRect">
            <a:avLst>
              <a:gd name="adj" fmla="val 6666"/>
            </a:avLst>
          </a:prstGeom>
          <a:solidFill>
            <a:srgbClr val="441D4B">
              <a:alpha val="30196"/>
            </a:srgbClr>
          </a:solidFill>
          <a:ln w="25400" cap="flat" cmpd="sng">
            <a:solidFill>
              <a:srgbClr val="953EA3">
                <a:alpha val="100000"/>
              </a:srgbClr>
            </a:solidFill>
            <a:prstDash val="solid"/>
            <a:round/>
          </a:ln>
        </p:spPr>
        <p:txBody>
          <a:bodyPr vert="horz" wrap="square" lIns="508000" tIns="0" rIns="508000" bIns="0" rtlCol="0" anchor="ctr" anchorCtr="0">
            <a:normAutofit/>
          </a:bodyPr>
          <a:lstStyle/>
          <a:p>
            <a:pPr>
              <a:lnSpc>
                <a:spcPct val="125000"/>
              </a:lnSpc>
              <a:defRPr/>
            </a:pPr>
            <a:endParaRPr lang="en-US" sz="900" dirty="0"/>
          </a:p>
        </p:txBody>
      </p:sp>
      <p:sp>
        <p:nvSpPr>
          <p:cNvPr id="2" name="AutoShape 2"/>
          <p:cNvSpPr/>
          <p:nvPr/>
        </p:nvSpPr>
        <p:spPr>
          <a:xfrm>
            <a:off x="1016000" y="221544"/>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dirty="0">
                <a:solidFill>
                  <a:srgbClr val="53195D"/>
                </a:solidFill>
                <a:latin typeface="Montserrat"/>
                <a:ea typeface="Montserrat"/>
                <a:cs typeface="Montserrat"/>
                <a:sym typeface="Montserrat"/>
              </a:rPr>
              <a:t>Objectives</a:t>
            </a:r>
            <a:endParaRPr lang="en-US" sz="1100" dirty="0"/>
          </a:p>
        </p:txBody>
      </p:sp>
      <p:sp>
        <p:nvSpPr>
          <p:cNvPr id="5" name="AutoShape 5"/>
          <p:cNvSpPr/>
          <p:nvPr/>
        </p:nvSpPr>
        <p:spPr>
          <a:xfrm>
            <a:off x="1916289" y="1976622"/>
            <a:ext cx="8548511" cy="635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1800" dirty="0"/>
              <a:t>Analyze sales and product distribution by category</a:t>
            </a:r>
            <a:endParaRPr lang="en-US" sz="1100" dirty="0"/>
          </a:p>
        </p:txBody>
      </p:sp>
      <p:sp>
        <p:nvSpPr>
          <p:cNvPr id="8" name="AutoShape 8"/>
          <p:cNvSpPr/>
          <p:nvPr/>
        </p:nvSpPr>
        <p:spPr>
          <a:xfrm>
            <a:off x="1916289" y="2821721"/>
            <a:ext cx="9398000" cy="508000"/>
          </a:xfrm>
          <a:prstGeom prst="rect">
            <a:avLst/>
          </a:prstGeom>
          <a:noFill/>
          <a:ln w="12700" cap="flat" cmpd="sng">
            <a:noFill/>
            <a:prstDash val="solid"/>
            <a:round/>
          </a:ln>
        </p:spPr>
        <p:txBody>
          <a:bodyPr vert="horz" wrap="square" lIns="0" tIns="0" rIns="0" bIns="0" rtlCol="0" anchor="ctr" anchorCtr="0">
            <a:normAutofit/>
          </a:bodyPr>
          <a:lstStyle/>
          <a:p>
            <a:r>
              <a:rPr lang="en-US" sz="1800" dirty="0"/>
              <a:t>Evaluate discount and pricing effectiveness</a:t>
            </a:r>
            <a:endParaRPr lang="en-US" sz="1100" dirty="0"/>
          </a:p>
        </p:txBody>
      </p:sp>
      <p:sp>
        <p:nvSpPr>
          <p:cNvPr id="11" name="AutoShape 11"/>
          <p:cNvSpPr/>
          <p:nvPr/>
        </p:nvSpPr>
        <p:spPr>
          <a:xfrm>
            <a:off x="1916289" y="3532422"/>
            <a:ext cx="9398000" cy="508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1800" dirty="0"/>
              <a:t>Identify high-value and high-performing products</a:t>
            </a:r>
            <a:endParaRPr lang="en-US" sz="1100" dirty="0"/>
          </a:p>
        </p:txBody>
      </p:sp>
      <p:sp>
        <p:nvSpPr>
          <p:cNvPr id="14" name="AutoShape 14"/>
          <p:cNvSpPr/>
          <p:nvPr/>
        </p:nvSpPr>
        <p:spPr>
          <a:xfrm>
            <a:off x="1916289" y="4218157"/>
            <a:ext cx="6246404" cy="691441"/>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1800" dirty="0"/>
              <a:t>Compare customer ratings with pricing</a:t>
            </a:r>
            <a:endParaRPr lang="en-US" sz="1100" dirty="0"/>
          </a:p>
        </p:txBody>
      </p:sp>
      <p:sp>
        <p:nvSpPr>
          <p:cNvPr id="17" name="AutoShape 17"/>
          <p:cNvSpPr/>
          <p:nvPr/>
        </p:nvSpPr>
        <p:spPr>
          <a:xfrm>
            <a:off x="1916289" y="5090769"/>
            <a:ext cx="7071594" cy="635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1800" dirty="0"/>
              <a:t>Support insights using SQL validation</a:t>
            </a:r>
            <a:endParaRPr lang="en-US" sz="1100" dirty="0"/>
          </a:p>
        </p:txBody>
      </p:sp>
      <p:sp>
        <p:nvSpPr>
          <p:cNvPr id="26" name="AutoShape 7">
            <a:extLst>
              <a:ext uri="{FF2B5EF4-FFF2-40B4-BE49-F238E27FC236}">
                <a16:creationId xmlns:a16="http://schemas.microsoft.com/office/drawing/2014/main" id="{9096BBB8-6F66-0163-3EF3-7DFC25F35A79}"/>
              </a:ext>
            </a:extLst>
          </p:cNvPr>
          <p:cNvSpPr/>
          <p:nvPr/>
        </p:nvSpPr>
        <p:spPr>
          <a:xfrm>
            <a:off x="1181104" y="2764365"/>
            <a:ext cx="508000" cy="508000"/>
          </a:xfrm>
          <a:prstGeom prst="ellipse">
            <a:avLst/>
          </a:prstGeom>
          <a:solidFill>
            <a:srgbClr val="441D4B">
              <a:alpha val="80000"/>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2000" b="1" i="0" u="none" strike="noStrike">
                <a:solidFill>
                  <a:srgbClr val="FFFFFF"/>
                </a:solidFill>
                <a:latin typeface="Poppins"/>
                <a:ea typeface="Poppins"/>
                <a:cs typeface="Poppins"/>
                <a:sym typeface="Poppins"/>
              </a:rPr>
              <a:t>2</a:t>
            </a:r>
            <a:endParaRPr lang="en-US" sz="1100"/>
          </a:p>
        </p:txBody>
      </p:sp>
      <p:sp>
        <p:nvSpPr>
          <p:cNvPr id="27" name="AutoShape 10">
            <a:extLst>
              <a:ext uri="{FF2B5EF4-FFF2-40B4-BE49-F238E27FC236}">
                <a16:creationId xmlns:a16="http://schemas.microsoft.com/office/drawing/2014/main" id="{07D9ACCD-3DCC-8DC9-335B-47694187C189}"/>
              </a:ext>
            </a:extLst>
          </p:cNvPr>
          <p:cNvSpPr/>
          <p:nvPr/>
        </p:nvSpPr>
        <p:spPr>
          <a:xfrm>
            <a:off x="1181104" y="3512272"/>
            <a:ext cx="508000" cy="508000"/>
          </a:xfrm>
          <a:prstGeom prst="ellipse">
            <a:avLst/>
          </a:prstGeom>
          <a:solidFill>
            <a:srgbClr val="441D4B">
              <a:alpha val="80000"/>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2000" b="1" i="0" u="none" strike="noStrike" dirty="0">
                <a:solidFill>
                  <a:srgbClr val="FFFFFF"/>
                </a:solidFill>
                <a:latin typeface="Poppins"/>
                <a:ea typeface="Poppins"/>
                <a:cs typeface="Poppins"/>
                <a:sym typeface="Poppins"/>
              </a:rPr>
              <a:t>3</a:t>
            </a:r>
            <a:endParaRPr lang="en-US" sz="1100" dirty="0"/>
          </a:p>
        </p:txBody>
      </p:sp>
      <p:sp>
        <p:nvSpPr>
          <p:cNvPr id="28" name="AutoShape 13">
            <a:extLst>
              <a:ext uri="{FF2B5EF4-FFF2-40B4-BE49-F238E27FC236}">
                <a16:creationId xmlns:a16="http://schemas.microsoft.com/office/drawing/2014/main" id="{22CFD9FC-9A2A-BEB5-3AA3-F9E50C479182}"/>
              </a:ext>
            </a:extLst>
          </p:cNvPr>
          <p:cNvSpPr/>
          <p:nvPr/>
        </p:nvSpPr>
        <p:spPr>
          <a:xfrm>
            <a:off x="1181104" y="4309878"/>
            <a:ext cx="508000" cy="508000"/>
          </a:xfrm>
          <a:prstGeom prst="ellipse">
            <a:avLst/>
          </a:prstGeom>
          <a:solidFill>
            <a:srgbClr val="441D4B">
              <a:alpha val="80000"/>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2000" b="1" i="0" u="none" strike="noStrike" dirty="0">
                <a:solidFill>
                  <a:srgbClr val="FFFFFF"/>
                </a:solidFill>
                <a:latin typeface="Poppins"/>
                <a:ea typeface="Poppins"/>
                <a:cs typeface="Poppins"/>
                <a:sym typeface="Poppins"/>
              </a:rPr>
              <a:t>4</a:t>
            </a:r>
            <a:endParaRPr lang="en-US" sz="1100" dirty="0"/>
          </a:p>
        </p:txBody>
      </p:sp>
      <p:sp>
        <p:nvSpPr>
          <p:cNvPr id="29" name="AutoShape 16">
            <a:extLst>
              <a:ext uri="{FF2B5EF4-FFF2-40B4-BE49-F238E27FC236}">
                <a16:creationId xmlns:a16="http://schemas.microsoft.com/office/drawing/2014/main" id="{40EF848E-017F-4F07-BBF4-A600F6E5990E}"/>
              </a:ext>
            </a:extLst>
          </p:cNvPr>
          <p:cNvSpPr/>
          <p:nvPr/>
        </p:nvSpPr>
        <p:spPr>
          <a:xfrm>
            <a:off x="1181104" y="5168900"/>
            <a:ext cx="508000" cy="508000"/>
          </a:xfrm>
          <a:prstGeom prst="ellipse">
            <a:avLst/>
          </a:prstGeom>
          <a:solidFill>
            <a:srgbClr val="441D4B">
              <a:alpha val="80000"/>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2000" b="1" i="0" u="none" strike="noStrike" dirty="0">
                <a:solidFill>
                  <a:srgbClr val="FFFFFF"/>
                </a:solidFill>
                <a:latin typeface="Poppins"/>
                <a:ea typeface="Poppins"/>
                <a:cs typeface="Poppins"/>
                <a:sym typeface="Poppins"/>
              </a:rPr>
              <a:t>5</a:t>
            </a:r>
            <a:endParaRPr lang="en-US" sz="1100" dirty="0"/>
          </a:p>
        </p:txBody>
      </p:sp>
      <p:sp>
        <p:nvSpPr>
          <p:cNvPr id="3" name="AutoShape 4">
            <a:extLst>
              <a:ext uri="{FF2B5EF4-FFF2-40B4-BE49-F238E27FC236}">
                <a16:creationId xmlns:a16="http://schemas.microsoft.com/office/drawing/2014/main" id="{56828A2B-29F5-E23C-5558-B3B32BECAA6A}"/>
              </a:ext>
            </a:extLst>
          </p:cNvPr>
          <p:cNvSpPr/>
          <p:nvPr/>
        </p:nvSpPr>
        <p:spPr>
          <a:xfrm>
            <a:off x="1181104" y="2040122"/>
            <a:ext cx="508000" cy="508000"/>
          </a:xfrm>
          <a:prstGeom prst="ellipse">
            <a:avLst/>
          </a:prstGeom>
          <a:solidFill>
            <a:srgbClr val="441D4B">
              <a:alpha val="80000"/>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2000" b="1" i="0" u="none" strike="noStrike" dirty="0">
                <a:solidFill>
                  <a:srgbClr val="FFFFFF"/>
                </a:solidFill>
                <a:latin typeface="Poppins"/>
                <a:ea typeface="Poppins"/>
                <a:cs typeface="Poppins"/>
                <a:sym typeface="Poppins"/>
              </a:rPr>
              <a:t>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1" name="AutoShape 3">
            <a:extLst>
              <a:ext uri="{FF2B5EF4-FFF2-40B4-BE49-F238E27FC236}">
                <a16:creationId xmlns:a16="http://schemas.microsoft.com/office/drawing/2014/main" id="{D3A99F9D-8378-6C90-AC83-E9DCA401C04E}"/>
              </a:ext>
            </a:extLst>
          </p:cNvPr>
          <p:cNvSpPr/>
          <p:nvPr/>
        </p:nvSpPr>
        <p:spPr>
          <a:xfrm>
            <a:off x="762000" y="1483111"/>
            <a:ext cx="10946780" cy="5151865"/>
          </a:xfrm>
          <a:prstGeom prst="roundRect">
            <a:avLst>
              <a:gd name="adj" fmla="val 6666"/>
            </a:avLst>
          </a:prstGeom>
          <a:solidFill>
            <a:srgbClr val="441D4B">
              <a:alpha val="30196"/>
            </a:srgbClr>
          </a:solidFill>
          <a:ln w="25400" cap="flat" cmpd="sng">
            <a:solidFill>
              <a:srgbClr val="953EA3">
                <a:alpha val="100000"/>
              </a:srgbClr>
            </a:solidFill>
            <a:prstDash val="solid"/>
            <a:round/>
          </a:ln>
        </p:spPr>
        <p:txBody>
          <a:bodyPr vert="horz" wrap="square" lIns="1188000" tIns="0" rIns="432000" bIns="2376000" rtlCol="0" anchor="ctr" anchorCtr="0">
            <a:normAutofit fontScale="25000" lnSpcReduction="20000"/>
          </a:bodyPr>
          <a:lstStyle/>
          <a:p>
            <a:pPr>
              <a:lnSpc>
                <a:spcPct val="150000"/>
              </a:lnSpc>
              <a:defRPr sz="1800">
                <a:solidFill>
                  <a:srgbClr val="3C3C3C"/>
                </a:solidFill>
              </a:defRPr>
            </a:pPr>
            <a:endParaRPr lang="en-US" sz="2000" b="1" dirty="0"/>
          </a:p>
          <a:p>
            <a:pPr lvl="0" eaLnBrk="0" fontAlgn="base" hangingPunct="0">
              <a:spcBef>
                <a:spcPct val="0"/>
              </a:spcBef>
              <a:spcAft>
                <a:spcPct val="0"/>
              </a:spcAft>
              <a:buClrTx/>
            </a:pPr>
            <a:endParaRPr lang="en-SG" sz="2000" b="1" dirty="0">
              <a:solidFill>
                <a:srgbClr val="53195D"/>
              </a:solidFill>
              <a:latin typeface="Poppins"/>
              <a:cs typeface="Poppins"/>
            </a:endParaRPr>
          </a:p>
          <a:p>
            <a:pPr eaLnBrk="0" fontAlgn="base" hangingPunct="0">
              <a:spcBef>
                <a:spcPct val="0"/>
              </a:spcBef>
              <a:spcAft>
                <a:spcPct val="0"/>
              </a:spcAft>
              <a:buClrTx/>
            </a:pPr>
            <a:endParaRPr lang="en-US" sz="20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eaLnBrk="0" fontAlgn="base" hangingPunct="0">
              <a:spcBef>
                <a:spcPct val="0"/>
              </a:spcBef>
              <a:spcAft>
                <a:spcPct val="0"/>
              </a:spcAft>
              <a:buClrTx/>
            </a:pPr>
            <a:endParaRPr lang="en-US" sz="29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2000" b="1" dirty="0">
              <a:solidFill>
                <a:srgbClr val="53195D"/>
              </a:solidFill>
              <a:latin typeface="Poppins"/>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endParaRPr lang="en-SG" sz="3200" b="1" dirty="0">
              <a:solidFill>
                <a:srgbClr val="53195D"/>
              </a:solidFill>
              <a:latin typeface="+mj-lt"/>
              <a:cs typeface="Poppins"/>
            </a:endParaRPr>
          </a:p>
          <a:p>
            <a:pPr lvl="0" eaLnBrk="0" fontAlgn="base" hangingPunct="0">
              <a:spcBef>
                <a:spcPct val="0"/>
              </a:spcBef>
              <a:spcAft>
                <a:spcPct val="0"/>
              </a:spcAft>
              <a:buClrTx/>
            </a:pPr>
            <a:r>
              <a:rPr lang="en-US" altLang="en-US" sz="7200" dirty="0"/>
              <a:t>	                          </a:t>
            </a:r>
          </a:p>
          <a:p>
            <a:pPr lvl="0" eaLnBrk="0" fontAlgn="base" hangingPunct="0">
              <a:spcBef>
                <a:spcPct val="0"/>
              </a:spcBef>
              <a:spcAft>
                <a:spcPct val="0"/>
              </a:spcAft>
              <a:buClrTx/>
            </a:pPr>
            <a:endParaRPr lang="en-US" altLang="en-US" sz="7200" dirty="0"/>
          </a:p>
          <a:p>
            <a:pPr lvl="0" eaLnBrk="0" fontAlgn="base" hangingPunct="0">
              <a:spcBef>
                <a:spcPct val="0"/>
              </a:spcBef>
              <a:spcAft>
                <a:spcPct val="0"/>
              </a:spcAft>
              <a:buClrTx/>
            </a:pPr>
            <a:endParaRPr lang="en-US" altLang="en-US" sz="7200" dirty="0"/>
          </a:p>
          <a:p>
            <a:pPr>
              <a:defRPr sz="1800">
                <a:solidFill>
                  <a:srgbClr val="3C3C3C"/>
                </a:solidFill>
              </a:defRPr>
            </a:pPr>
            <a:endParaRPr lang="en-US" sz="3600" b="1" dirty="0">
              <a:solidFill>
                <a:srgbClr val="53195D"/>
              </a:solidFill>
              <a:latin typeface="+mj-lt"/>
              <a:cs typeface="Poppins"/>
            </a:endParaRPr>
          </a:p>
          <a:p>
            <a:pPr>
              <a:defRPr sz="1800">
                <a:solidFill>
                  <a:srgbClr val="3C3C3C"/>
                </a:solidFill>
              </a:defRPr>
            </a:pPr>
            <a:endParaRPr lang="en-US" sz="3600" b="1" dirty="0">
              <a:solidFill>
                <a:srgbClr val="53195D"/>
              </a:solidFill>
              <a:latin typeface="+mj-lt"/>
              <a:cs typeface="Poppins"/>
            </a:endParaRPr>
          </a:p>
          <a:p>
            <a:pPr>
              <a:defRPr sz="1800">
                <a:solidFill>
                  <a:srgbClr val="3C3C3C"/>
                </a:solidFill>
              </a:defRPr>
            </a:pPr>
            <a:endParaRPr lang="en-US" sz="3600" b="1" dirty="0">
              <a:solidFill>
                <a:srgbClr val="53195D"/>
              </a:solidFill>
              <a:latin typeface="+mj-lt"/>
              <a:cs typeface="Poppins"/>
            </a:endParaRPr>
          </a:p>
          <a:p>
            <a:pPr>
              <a:defRPr sz="1800">
                <a:solidFill>
                  <a:srgbClr val="3C3C3C"/>
                </a:solidFill>
              </a:defRPr>
            </a:pPr>
            <a:endParaRPr lang="en-US" sz="8000" b="1" dirty="0">
              <a:solidFill>
                <a:srgbClr val="53195D"/>
              </a:solidFill>
              <a:latin typeface="+mj-lt"/>
              <a:cs typeface="Poppins"/>
            </a:endParaRPr>
          </a:p>
          <a:p>
            <a:pPr>
              <a:defRPr sz="1800">
                <a:solidFill>
                  <a:srgbClr val="3C3C3C"/>
                </a:solidFill>
              </a:defRPr>
            </a:pPr>
            <a:r>
              <a:rPr lang="en-US" sz="1600" b="1" dirty="0"/>
              <a:t>		</a:t>
            </a:r>
            <a:r>
              <a:rPr lang="en-US" sz="3800" dirty="0"/>
              <a:t>		</a:t>
            </a:r>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endParaRPr lang="en-US" sz="3800" dirty="0"/>
          </a:p>
          <a:p>
            <a:pPr>
              <a:defRPr sz="1800">
                <a:solidFill>
                  <a:srgbClr val="3C3C3C"/>
                </a:solidFill>
              </a:defRPr>
            </a:pPr>
            <a:r>
              <a:rPr lang="en-US" sz="3800" dirty="0"/>
              <a:t>			  </a:t>
            </a:r>
            <a:endParaRPr lang="en-SG" sz="3800" dirty="0"/>
          </a:p>
          <a:p>
            <a:pPr>
              <a:defRPr sz="1800">
                <a:solidFill>
                  <a:srgbClr val="3C3C3C"/>
                </a:solidFill>
              </a:defRPr>
            </a:pPr>
            <a:endParaRPr lang="en-US" altLang="en-US" sz="3800" dirty="0">
              <a:solidFill>
                <a:schemeClr val="tx1"/>
              </a:solidFill>
              <a:latin typeface="Arial" panose="020B0604020202020204" pitchFamily="34" charset="0"/>
            </a:endParaRPr>
          </a:p>
          <a:p>
            <a:pPr>
              <a:defRPr sz="1800">
                <a:solidFill>
                  <a:srgbClr val="3C3C3C"/>
                </a:solidFill>
              </a:defRPr>
            </a:pPr>
            <a:endParaRPr lang="en-SG" sz="1800" b="1" dirty="0">
              <a:solidFill>
                <a:srgbClr val="53195D"/>
              </a:solidFill>
              <a:latin typeface="Poppins"/>
              <a:cs typeface="Poppins"/>
            </a:endParaRPr>
          </a:p>
          <a:p>
            <a:pPr>
              <a:defRPr sz="1800">
                <a:solidFill>
                  <a:srgbClr val="3C3C3C"/>
                </a:solidFill>
              </a:defRPr>
            </a:pPr>
            <a:endParaRPr lang="en-US" sz="1800" dirty="0">
              <a:solidFill>
                <a:srgbClr val="3C3C3C"/>
              </a:solidFill>
            </a:endParaRPr>
          </a:p>
        </p:txBody>
      </p:sp>
      <p:sp>
        <p:nvSpPr>
          <p:cNvPr id="2" name="AutoShape 2"/>
          <p:cNvSpPr/>
          <p:nvPr/>
        </p:nvSpPr>
        <p:spPr>
          <a:xfrm>
            <a:off x="762000" y="409078"/>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dirty="0">
                <a:solidFill>
                  <a:srgbClr val="53195D"/>
                </a:solidFill>
                <a:latin typeface="Montserrat"/>
                <a:ea typeface="Montserrat"/>
                <a:cs typeface="Montserrat"/>
                <a:sym typeface="Montserrat"/>
              </a:rPr>
              <a:t>Data </a:t>
            </a:r>
            <a:r>
              <a:rPr lang="en-US" sz="3600" b="1" dirty="0">
                <a:solidFill>
                  <a:srgbClr val="53195D"/>
                </a:solidFill>
                <a:latin typeface="Montserrat"/>
                <a:ea typeface="Montserrat"/>
                <a:cs typeface="Montserrat"/>
                <a:sym typeface="Montserrat"/>
              </a:rPr>
              <a:t>Preparation</a:t>
            </a:r>
            <a:endParaRPr lang="en-US" sz="1100" dirty="0"/>
          </a:p>
        </p:txBody>
      </p:sp>
      <p:pic>
        <p:nvPicPr>
          <p:cNvPr id="6" name="Picture 5" descr="A magnifying glass over a paper&#10;&#10;AI-generated content may be incorrect.">
            <a:extLst>
              <a:ext uri="{FF2B5EF4-FFF2-40B4-BE49-F238E27FC236}">
                <a16:creationId xmlns:a16="http://schemas.microsoft.com/office/drawing/2014/main" id="{6A19B7F2-132D-21D6-C0E9-DA3D995BE342}"/>
              </a:ext>
            </a:extLst>
          </p:cNvPr>
          <p:cNvPicPr>
            <a:picLocks noChangeAspect="1"/>
          </p:cNvPicPr>
          <p:nvPr/>
        </p:nvPicPr>
        <p:blipFill>
          <a:blip r:embed="rId3"/>
          <a:stretch>
            <a:fillRect/>
          </a:stretch>
        </p:blipFill>
        <p:spPr>
          <a:xfrm>
            <a:off x="1275644" y="4667663"/>
            <a:ext cx="360000" cy="360000"/>
          </a:xfrm>
          <a:prstGeom prst="rect">
            <a:avLst/>
          </a:prstGeom>
        </p:spPr>
      </p:pic>
      <p:pic>
        <p:nvPicPr>
          <p:cNvPr id="7" name="Picture 6" descr="A computer network diagram with a circular object and a globe&#10;&#10;AI-generated content may be incorrect.">
            <a:extLst>
              <a:ext uri="{FF2B5EF4-FFF2-40B4-BE49-F238E27FC236}">
                <a16:creationId xmlns:a16="http://schemas.microsoft.com/office/drawing/2014/main" id="{6320382D-F875-E525-D394-31F6BC16F855}"/>
              </a:ext>
            </a:extLst>
          </p:cNvPr>
          <p:cNvPicPr>
            <a:picLocks noChangeAspect="1"/>
          </p:cNvPicPr>
          <p:nvPr/>
        </p:nvPicPr>
        <p:blipFill>
          <a:blip r:embed="rId4"/>
          <a:stretch>
            <a:fillRect/>
          </a:stretch>
        </p:blipFill>
        <p:spPr>
          <a:xfrm>
            <a:off x="1275644" y="2099249"/>
            <a:ext cx="360000" cy="360000"/>
          </a:xfrm>
          <a:prstGeom prst="rect">
            <a:avLst/>
          </a:prstGeom>
        </p:spPr>
      </p:pic>
      <p:pic>
        <p:nvPicPr>
          <p:cNvPr id="8" name="Picture 7" descr="A blue circular object with stars and a broom&#10;&#10;AI-generated content may be incorrect.">
            <a:extLst>
              <a:ext uri="{FF2B5EF4-FFF2-40B4-BE49-F238E27FC236}">
                <a16:creationId xmlns:a16="http://schemas.microsoft.com/office/drawing/2014/main" id="{B423E263-25F0-B86E-3764-0DCE2647323A}"/>
              </a:ext>
            </a:extLst>
          </p:cNvPr>
          <p:cNvPicPr>
            <a:picLocks noChangeAspect="1"/>
          </p:cNvPicPr>
          <p:nvPr/>
        </p:nvPicPr>
        <p:blipFill>
          <a:blip r:embed="rId5"/>
          <a:stretch>
            <a:fillRect/>
          </a:stretch>
        </p:blipFill>
        <p:spPr>
          <a:xfrm>
            <a:off x="1275644" y="3075387"/>
            <a:ext cx="360000" cy="360000"/>
          </a:xfrm>
          <a:prstGeom prst="rect">
            <a:avLst/>
          </a:prstGeom>
        </p:spPr>
      </p:pic>
      <p:sp>
        <p:nvSpPr>
          <p:cNvPr id="5" name="TextBox 4">
            <a:extLst>
              <a:ext uri="{FF2B5EF4-FFF2-40B4-BE49-F238E27FC236}">
                <a16:creationId xmlns:a16="http://schemas.microsoft.com/office/drawing/2014/main" id="{1EE63723-DC64-FB57-EBD0-5F1B79EEAC75}"/>
              </a:ext>
            </a:extLst>
          </p:cNvPr>
          <p:cNvSpPr txBox="1"/>
          <p:nvPr/>
        </p:nvSpPr>
        <p:spPr>
          <a:xfrm>
            <a:off x="2018371" y="1801253"/>
            <a:ext cx="8263053" cy="830997"/>
          </a:xfrm>
          <a:prstGeom prst="rect">
            <a:avLst/>
          </a:prstGeom>
          <a:noFill/>
        </p:spPr>
        <p:txBody>
          <a:bodyPr wrap="square" rtlCol="0">
            <a:spAutoFit/>
          </a:bodyPr>
          <a:lstStyle/>
          <a:p>
            <a:pPr eaLnBrk="0" fontAlgn="base" hangingPunct="0">
              <a:spcBef>
                <a:spcPct val="0"/>
              </a:spcBef>
              <a:spcAft>
                <a:spcPct val="0"/>
              </a:spcAft>
              <a:buClrTx/>
            </a:pPr>
            <a:endParaRPr lang="en-US" b="1" dirty="0">
              <a:solidFill>
                <a:srgbClr val="53195D"/>
              </a:solidFill>
              <a:latin typeface="Poppins"/>
              <a:cs typeface="Poppins"/>
            </a:endParaRPr>
          </a:p>
          <a:p>
            <a:pPr eaLnBrk="0" fontAlgn="base" hangingPunct="0">
              <a:spcBef>
                <a:spcPct val="0"/>
              </a:spcBef>
              <a:spcAft>
                <a:spcPct val="0"/>
              </a:spcAft>
              <a:buClrTx/>
            </a:pPr>
            <a:r>
              <a:rPr lang="en-US" sz="2000" b="1" dirty="0">
                <a:solidFill>
                  <a:srgbClr val="53195D"/>
                </a:solidFill>
                <a:latin typeface="+mj-lt"/>
                <a:cs typeface="Poppins"/>
              </a:rPr>
              <a:t>Data Collection</a:t>
            </a:r>
            <a:r>
              <a:rPr lang="en-US" sz="2000" b="1" dirty="0">
                <a:latin typeface="+mj-lt"/>
              </a:rPr>
              <a:t>: </a:t>
            </a:r>
            <a:r>
              <a:rPr lang="en-US" sz="1800" dirty="0"/>
              <a:t>Imported data from 139 csv files</a:t>
            </a:r>
            <a:endParaRPr lang="en-SG" sz="1800" b="1" dirty="0"/>
          </a:p>
          <a:p>
            <a:pPr eaLnBrk="0" fontAlgn="base" hangingPunct="0">
              <a:spcBef>
                <a:spcPct val="0"/>
              </a:spcBef>
              <a:spcAft>
                <a:spcPct val="0"/>
              </a:spcAft>
              <a:buClrTx/>
            </a:pPr>
            <a:endParaRPr lang="en-SG" dirty="0"/>
          </a:p>
        </p:txBody>
      </p:sp>
      <p:sp>
        <p:nvSpPr>
          <p:cNvPr id="18" name="TextBox 17">
            <a:extLst>
              <a:ext uri="{FF2B5EF4-FFF2-40B4-BE49-F238E27FC236}">
                <a16:creationId xmlns:a16="http://schemas.microsoft.com/office/drawing/2014/main" id="{09BB8E1C-E6B3-6225-8D23-FD168250716F}"/>
              </a:ext>
            </a:extLst>
          </p:cNvPr>
          <p:cNvSpPr txBox="1"/>
          <p:nvPr/>
        </p:nvSpPr>
        <p:spPr>
          <a:xfrm>
            <a:off x="1983124" y="2960550"/>
            <a:ext cx="9099395" cy="1261884"/>
          </a:xfrm>
          <a:prstGeom prst="rect">
            <a:avLst/>
          </a:prstGeom>
          <a:noFill/>
        </p:spPr>
        <p:txBody>
          <a:bodyPr wrap="square" rtlCol="0">
            <a:spAutoFit/>
          </a:bodyPr>
          <a:lstStyle/>
          <a:p>
            <a:r>
              <a:rPr lang="en-US" sz="2000" b="1" dirty="0">
                <a:solidFill>
                  <a:srgbClr val="53195D"/>
                </a:solidFill>
                <a:latin typeface="+mj-lt"/>
                <a:cs typeface="Poppins"/>
              </a:rPr>
              <a:t>Data Transformation: </a:t>
            </a:r>
            <a:r>
              <a:rPr lang="en-US" altLang="en-US" sz="1800" dirty="0"/>
              <a:t>Concatenated multiple raw files into a single dataset, 		            	             Cleaned missing values and inconsistent records, 		           	             Standardized columns and data types in Python before </a:t>
            </a:r>
          </a:p>
          <a:p>
            <a:r>
              <a:rPr lang="en-SG" sz="1800" b="1" dirty="0">
                <a:solidFill>
                  <a:srgbClr val="53195D"/>
                </a:solidFill>
                <a:latin typeface="+mj-lt"/>
                <a:cs typeface="Poppins"/>
              </a:rPr>
              <a:t>		</a:t>
            </a:r>
            <a:r>
              <a:rPr lang="en-US" altLang="en-US" sz="1800" dirty="0"/>
              <a:t>             transferring the data to SQL. </a:t>
            </a:r>
            <a:r>
              <a:rPr lang="en-SG" sz="2000" b="1" dirty="0">
                <a:solidFill>
                  <a:srgbClr val="53195D"/>
                </a:solidFill>
                <a:latin typeface="+mj-lt"/>
                <a:cs typeface="Poppins"/>
              </a:rPr>
              <a:t>	</a:t>
            </a:r>
          </a:p>
        </p:txBody>
      </p:sp>
      <p:sp>
        <p:nvSpPr>
          <p:cNvPr id="19" name="TextBox 18">
            <a:extLst>
              <a:ext uri="{FF2B5EF4-FFF2-40B4-BE49-F238E27FC236}">
                <a16:creationId xmlns:a16="http://schemas.microsoft.com/office/drawing/2014/main" id="{3D4E7911-5877-49D1-BD15-DC42765DF810}"/>
              </a:ext>
            </a:extLst>
          </p:cNvPr>
          <p:cNvSpPr txBox="1"/>
          <p:nvPr/>
        </p:nvSpPr>
        <p:spPr>
          <a:xfrm>
            <a:off x="2129883" y="4627553"/>
            <a:ext cx="8952636" cy="1800000"/>
          </a:xfrm>
          <a:prstGeom prst="rect">
            <a:avLst/>
          </a:prstGeom>
          <a:noFill/>
        </p:spPr>
        <p:txBody>
          <a:bodyPr wrap="square" rtlCol="0">
            <a:spAutoFit/>
          </a:bodyPr>
          <a:lstStyle/>
          <a:p>
            <a:pPr>
              <a:defRPr sz="1800">
                <a:solidFill>
                  <a:srgbClr val="3C3C3C"/>
                </a:solidFill>
              </a:defRPr>
            </a:pPr>
            <a:r>
              <a:rPr lang="en-US" sz="2000" b="1" dirty="0">
                <a:solidFill>
                  <a:srgbClr val="53195D"/>
                </a:solidFill>
                <a:cs typeface="Poppins"/>
              </a:rPr>
              <a:t>Prepared for Analysis: </a:t>
            </a:r>
          </a:p>
          <a:p>
            <a:pPr>
              <a:defRPr sz="1800">
                <a:solidFill>
                  <a:srgbClr val="3C3C3C"/>
                </a:solidFill>
              </a:defRPr>
            </a:pPr>
            <a:endParaRPr lang="en-US" sz="1800" dirty="0"/>
          </a:p>
          <a:p>
            <a:pPr>
              <a:defRPr sz="1800">
                <a:solidFill>
                  <a:srgbClr val="3C3C3C"/>
                </a:solidFill>
              </a:defRPr>
            </a:pPr>
            <a:r>
              <a:rPr lang="en-US" sz="1800" dirty="0"/>
              <a:t>	Created Calculated Column:  value score</a:t>
            </a:r>
          </a:p>
          <a:p>
            <a:pPr>
              <a:defRPr sz="1800">
                <a:solidFill>
                  <a:srgbClr val="3C3C3C"/>
                </a:solidFill>
              </a:defRPr>
            </a:pPr>
            <a:r>
              <a:rPr lang="en-US" sz="1800" dirty="0"/>
              <a:t> 	Measures: Total Sales, Total Products, Average Discount Rate, Average 		    Customer  Rating, Total Reviews </a:t>
            </a:r>
          </a:p>
          <a:p>
            <a:pPr>
              <a:defRPr sz="1800">
                <a:solidFill>
                  <a:srgbClr val="3C3C3C"/>
                </a:solidFill>
              </a:defRPr>
            </a:pPr>
            <a:r>
              <a:rPr lang="en-US" sz="1800" b="1" dirty="0">
                <a:solidFill>
                  <a:srgbClr val="53195D"/>
                </a:solidFill>
                <a:cs typeface="Poppins"/>
              </a:rPr>
              <a:t>	</a:t>
            </a:r>
            <a:r>
              <a:rPr lang="en-US" sz="1800" dirty="0"/>
              <a:t>		  </a:t>
            </a:r>
            <a:endParaRPr lang="en-SG" sz="1800" dirty="0"/>
          </a:p>
          <a:p>
            <a:pPr>
              <a:defRPr sz="1800">
                <a:solidFill>
                  <a:srgbClr val="3C3C3C"/>
                </a:solidFill>
              </a:defRPr>
            </a:pPr>
            <a:endParaRPr lang="en-US" altLang="en-US" sz="1800" dirty="0">
              <a:solidFill>
                <a:schemeClr val="tx1"/>
              </a:solidFill>
              <a:latin typeface="Arial" panose="020B0604020202020204" pitchFamily="34" charset="0"/>
            </a:endParaRPr>
          </a:p>
          <a:p>
            <a:pPr>
              <a:defRPr sz="1800">
                <a:solidFill>
                  <a:srgbClr val="3C3C3C"/>
                </a:solidFill>
              </a:defRPr>
            </a:pPr>
            <a:endParaRPr lang="en-US" sz="1800" b="1" dirty="0">
              <a:solidFill>
                <a:srgbClr val="53195D"/>
              </a:solidFill>
              <a:cs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7" name="AutoShape 6">
            <a:extLst>
              <a:ext uri="{FF2B5EF4-FFF2-40B4-BE49-F238E27FC236}">
                <a16:creationId xmlns:a16="http://schemas.microsoft.com/office/drawing/2014/main" id="{B3CDF34F-EC7C-8ED1-AB16-A43BEC38568A}"/>
              </a:ext>
            </a:extLst>
          </p:cNvPr>
          <p:cNvSpPr/>
          <p:nvPr/>
        </p:nvSpPr>
        <p:spPr>
          <a:xfrm>
            <a:off x="9450235" y="1941860"/>
            <a:ext cx="1800000" cy="1800000"/>
          </a:xfrm>
          <a:prstGeom prst="roundRect">
            <a:avLst>
              <a:gd name="adj" fmla="val 6000"/>
            </a:avLst>
          </a:prstGeom>
          <a:solidFill>
            <a:srgbClr val="441D4B">
              <a:alpha val="30196"/>
            </a:srgbClr>
          </a:solidFill>
          <a:ln w="25400" cap="flat" cmpd="sng">
            <a:solidFill>
              <a:srgbClr val="953EA3">
                <a:alpha val="100000"/>
              </a:srgbClr>
            </a:solidFill>
            <a:prstDash val="solid"/>
            <a:round/>
          </a:ln>
        </p:spPr>
        <p:txBody>
          <a:bodyPr vert="horz" wrap="square" lIns="127000" tIns="0" rIns="127000" bIns="0" rtlCol="0" anchor="ctr" anchorCtr="0">
            <a:normAutofit/>
          </a:bodyPr>
          <a:lstStyle/>
          <a:p>
            <a:pPr indent="0" algn="ctr">
              <a:lnSpc>
                <a:spcPct val="125000"/>
              </a:lnSpc>
              <a:defRPr/>
            </a:pPr>
            <a:endParaRPr lang="en-US" sz="1100" dirty="0"/>
          </a:p>
          <a:p>
            <a:pPr indent="0" algn="ctr">
              <a:lnSpc>
                <a:spcPct val="125000"/>
              </a:lnSpc>
            </a:pPr>
            <a:endParaRPr lang="en-US" sz="1400" b="0" i="0" u="none" strike="noStrike" dirty="0">
              <a:solidFill>
                <a:srgbClr val="65636D"/>
              </a:solidFill>
              <a:latin typeface="Open Sans"/>
              <a:ea typeface="Open Sans"/>
              <a:cs typeface="Open Sans"/>
              <a:sym typeface="Open Sans"/>
            </a:endParaRPr>
          </a:p>
        </p:txBody>
      </p:sp>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End-to-End Data Pipeline</a:t>
            </a:r>
            <a:endParaRPr lang="en-US" sz="3600" b="1" dirty="0">
              <a:solidFill>
                <a:srgbClr val="53195D"/>
              </a:solidFill>
              <a:latin typeface="Montserrat"/>
            </a:endParaRPr>
          </a:p>
        </p:txBody>
      </p:sp>
      <p:sp>
        <p:nvSpPr>
          <p:cNvPr id="4" name="AutoShape 4"/>
          <p:cNvSpPr/>
          <p:nvPr/>
        </p:nvSpPr>
        <p:spPr>
          <a:xfrm>
            <a:off x="760836" y="1913054"/>
            <a:ext cx="1800000" cy="1800000"/>
          </a:xfrm>
          <a:prstGeom prst="roundRect">
            <a:avLst>
              <a:gd name="adj" fmla="val 6000"/>
            </a:avLst>
          </a:prstGeom>
          <a:solidFill>
            <a:srgbClr val="441D4B">
              <a:alpha val="30196"/>
            </a:srgbClr>
          </a:solidFill>
          <a:ln w="25400" cap="flat" cmpd="sng">
            <a:solidFill>
              <a:srgbClr val="953EA3">
                <a:alpha val="100000"/>
              </a:srgbClr>
            </a:solidFill>
            <a:prstDash val="solid"/>
            <a:round/>
          </a:ln>
        </p:spPr>
        <p:txBody>
          <a:bodyPr vert="horz" wrap="square" lIns="127000" tIns="0" rIns="127000" bIns="0" rtlCol="0" anchor="ctr" anchorCtr="0">
            <a:normAutofit/>
          </a:bodyPr>
          <a:lstStyle/>
          <a:p>
            <a:pPr indent="0" algn="ctr">
              <a:lnSpc>
                <a:spcPct val="125000"/>
              </a:lnSpc>
              <a:defRPr/>
            </a:pPr>
            <a:endParaRPr lang="en-US" sz="1100" dirty="0"/>
          </a:p>
        </p:txBody>
      </p:sp>
      <p:sp>
        <p:nvSpPr>
          <p:cNvPr id="6" name="AutoShape 6"/>
          <p:cNvSpPr/>
          <p:nvPr/>
        </p:nvSpPr>
        <p:spPr>
          <a:xfrm>
            <a:off x="3657302" y="1922656"/>
            <a:ext cx="1800000" cy="1800000"/>
          </a:xfrm>
          <a:prstGeom prst="roundRect">
            <a:avLst>
              <a:gd name="adj" fmla="val 6000"/>
            </a:avLst>
          </a:prstGeom>
          <a:solidFill>
            <a:srgbClr val="441D4B">
              <a:alpha val="30196"/>
            </a:srgbClr>
          </a:solidFill>
          <a:ln w="25400" cap="flat" cmpd="sng">
            <a:solidFill>
              <a:srgbClr val="953EA3">
                <a:alpha val="100000"/>
              </a:srgbClr>
            </a:solidFill>
            <a:prstDash val="solid"/>
            <a:round/>
          </a:ln>
        </p:spPr>
        <p:txBody>
          <a:bodyPr vert="horz" wrap="square" lIns="127000" tIns="0" rIns="127000" bIns="0" rtlCol="0" anchor="ctr" anchorCtr="0">
            <a:normAutofit/>
          </a:bodyPr>
          <a:lstStyle/>
          <a:p>
            <a:pPr indent="0" algn="ctr">
              <a:lnSpc>
                <a:spcPct val="125000"/>
              </a:lnSpc>
              <a:defRPr/>
            </a:pPr>
            <a:endParaRPr lang="en-US" sz="1100" dirty="0"/>
          </a:p>
        </p:txBody>
      </p:sp>
      <p:sp>
        <p:nvSpPr>
          <p:cNvPr id="8" name="AutoShape 8"/>
          <p:cNvSpPr/>
          <p:nvPr/>
        </p:nvSpPr>
        <p:spPr>
          <a:xfrm>
            <a:off x="6553768" y="1932258"/>
            <a:ext cx="1800000" cy="1800000"/>
          </a:xfrm>
          <a:prstGeom prst="roundRect">
            <a:avLst>
              <a:gd name="adj" fmla="val 6000"/>
            </a:avLst>
          </a:prstGeom>
          <a:solidFill>
            <a:srgbClr val="441D4B">
              <a:alpha val="30196"/>
            </a:srgbClr>
          </a:solidFill>
          <a:ln w="25400" cap="flat" cmpd="sng">
            <a:solidFill>
              <a:srgbClr val="953EA3">
                <a:alpha val="100000"/>
              </a:srgbClr>
            </a:solidFill>
            <a:prstDash val="solid"/>
            <a:round/>
          </a:ln>
        </p:spPr>
        <p:txBody>
          <a:bodyPr vert="horz" wrap="square" lIns="127000" tIns="0" rIns="127000" bIns="0" rtlCol="0" anchor="ctr" anchorCtr="0">
            <a:normAutofit/>
          </a:bodyPr>
          <a:lstStyle/>
          <a:p>
            <a:pPr indent="0" algn="ctr">
              <a:lnSpc>
                <a:spcPct val="125000"/>
              </a:lnSpc>
              <a:defRPr/>
            </a:pPr>
            <a:endParaRPr lang="en-US" sz="1100" dirty="0"/>
          </a:p>
        </p:txBody>
      </p:sp>
      <p:pic>
        <p:nvPicPr>
          <p:cNvPr id="10" name="Picture 9">
            <a:extLst>
              <a:ext uri="{FF2B5EF4-FFF2-40B4-BE49-F238E27FC236}">
                <a16:creationId xmlns:a16="http://schemas.microsoft.com/office/drawing/2014/main" id="{96ACE5CB-0685-2701-B6CC-185C228A77DF}"/>
              </a:ext>
            </a:extLst>
          </p:cNvPr>
          <p:cNvPicPr>
            <a:picLocks noChangeAspect="1"/>
          </p:cNvPicPr>
          <p:nvPr/>
        </p:nvPicPr>
        <p:blipFill>
          <a:blip r:embed="rId3"/>
          <a:stretch>
            <a:fillRect/>
          </a:stretch>
        </p:blipFill>
        <p:spPr>
          <a:xfrm>
            <a:off x="1295971" y="2108402"/>
            <a:ext cx="729730" cy="720000"/>
          </a:xfrm>
          <a:prstGeom prst="rect">
            <a:avLst/>
          </a:prstGeom>
        </p:spPr>
      </p:pic>
      <p:pic>
        <p:nvPicPr>
          <p:cNvPr id="12" name="Picture 11">
            <a:extLst>
              <a:ext uri="{FF2B5EF4-FFF2-40B4-BE49-F238E27FC236}">
                <a16:creationId xmlns:a16="http://schemas.microsoft.com/office/drawing/2014/main" id="{0211FCC7-19E8-7244-91B1-7AED0C9ED7B8}"/>
              </a:ext>
            </a:extLst>
          </p:cNvPr>
          <p:cNvPicPr>
            <a:picLocks noChangeAspect="1"/>
          </p:cNvPicPr>
          <p:nvPr/>
        </p:nvPicPr>
        <p:blipFill>
          <a:blip r:embed="rId4"/>
          <a:stretch>
            <a:fillRect/>
          </a:stretch>
        </p:blipFill>
        <p:spPr>
          <a:xfrm>
            <a:off x="4189875" y="2108402"/>
            <a:ext cx="850353" cy="682962"/>
          </a:xfrm>
          <a:prstGeom prst="rect">
            <a:avLst/>
          </a:prstGeom>
        </p:spPr>
      </p:pic>
      <p:pic>
        <p:nvPicPr>
          <p:cNvPr id="14" name="Picture 13">
            <a:extLst>
              <a:ext uri="{FF2B5EF4-FFF2-40B4-BE49-F238E27FC236}">
                <a16:creationId xmlns:a16="http://schemas.microsoft.com/office/drawing/2014/main" id="{BF2281FA-F607-2BDD-19AF-EA84AA6D4A95}"/>
              </a:ext>
            </a:extLst>
          </p:cNvPr>
          <p:cNvPicPr>
            <a:picLocks noChangeAspect="1"/>
          </p:cNvPicPr>
          <p:nvPr/>
        </p:nvPicPr>
        <p:blipFill>
          <a:blip r:embed="rId5"/>
          <a:stretch>
            <a:fillRect/>
          </a:stretch>
        </p:blipFill>
        <p:spPr>
          <a:xfrm>
            <a:off x="9933689" y="2049098"/>
            <a:ext cx="849541" cy="849541"/>
          </a:xfrm>
          <a:prstGeom prst="rect">
            <a:avLst/>
          </a:prstGeom>
        </p:spPr>
      </p:pic>
      <p:pic>
        <p:nvPicPr>
          <p:cNvPr id="16" name="Picture 15">
            <a:extLst>
              <a:ext uri="{FF2B5EF4-FFF2-40B4-BE49-F238E27FC236}">
                <a16:creationId xmlns:a16="http://schemas.microsoft.com/office/drawing/2014/main" id="{F02BCD97-786A-08D8-0B78-823033EC7431}"/>
              </a:ext>
            </a:extLst>
          </p:cNvPr>
          <p:cNvPicPr>
            <a:picLocks noChangeAspect="1"/>
          </p:cNvPicPr>
          <p:nvPr/>
        </p:nvPicPr>
        <p:blipFill>
          <a:blip r:embed="rId6"/>
          <a:stretch>
            <a:fillRect/>
          </a:stretch>
        </p:blipFill>
        <p:spPr>
          <a:xfrm>
            <a:off x="7015930" y="2117256"/>
            <a:ext cx="875676" cy="720000"/>
          </a:xfrm>
          <a:prstGeom prst="rect">
            <a:avLst/>
          </a:prstGeom>
        </p:spPr>
      </p:pic>
      <p:cxnSp>
        <p:nvCxnSpPr>
          <p:cNvPr id="18" name="Connector 7">
            <a:extLst>
              <a:ext uri="{FF2B5EF4-FFF2-40B4-BE49-F238E27FC236}">
                <a16:creationId xmlns:a16="http://schemas.microsoft.com/office/drawing/2014/main" id="{C0AEF4FF-BE24-313F-58EE-D89668FC9045}"/>
              </a:ext>
            </a:extLst>
          </p:cNvPr>
          <p:cNvCxnSpPr>
            <a:cxnSpLocks/>
          </p:cNvCxnSpPr>
          <p:nvPr/>
        </p:nvCxnSpPr>
        <p:spPr>
          <a:xfrm rot="-57290">
            <a:off x="8383954" y="2806704"/>
            <a:ext cx="1080000" cy="12700"/>
          </a:xfrm>
          <a:prstGeom prst="straightConnector1">
            <a:avLst/>
          </a:prstGeom>
          <a:solidFill>
            <a:srgbClr val="DEE0E3">
              <a:alpha val="100000"/>
            </a:srgbClr>
          </a:solidFill>
          <a:ln w="25400" cap="flat" cmpd="sng">
            <a:solidFill>
              <a:srgbClr val="84828E">
                <a:alpha val="100000"/>
              </a:srgbClr>
            </a:solidFill>
            <a:prstDash val="solid"/>
            <a:round/>
            <a:headEnd type="none" w="lg" len="lg"/>
            <a:tailEnd type="arrow" w="lg" len="lg"/>
          </a:ln>
        </p:spPr>
      </p:cxnSp>
      <p:cxnSp>
        <p:nvCxnSpPr>
          <p:cNvPr id="20" name="Connector 7">
            <a:extLst>
              <a:ext uri="{FF2B5EF4-FFF2-40B4-BE49-F238E27FC236}">
                <a16:creationId xmlns:a16="http://schemas.microsoft.com/office/drawing/2014/main" id="{6734CD89-8011-D753-AD94-389CA99E84B5}"/>
              </a:ext>
            </a:extLst>
          </p:cNvPr>
          <p:cNvCxnSpPr>
            <a:cxnSpLocks/>
          </p:cNvCxnSpPr>
          <p:nvPr/>
        </p:nvCxnSpPr>
        <p:spPr>
          <a:xfrm rot="-57290">
            <a:off x="5473537" y="2800362"/>
            <a:ext cx="1080000" cy="12700"/>
          </a:xfrm>
          <a:prstGeom prst="straightConnector1">
            <a:avLst/>
          </a:prstGeom>
          <a:solidFill>
            <a:srgbClr val="DEE0E3">
              <a:alpha val="100000"/>
            </a:srgbClr>
          </a:solidFill>
          <a:ln w="25400" cap="flat" cmpd="sng">
            <a:solidFill>
              <a:srgbClr val="84828E">
                <a:alpha val="100000"/>
              </a:srgbClr>
            </a:solidFill>
            <a:prstDash val="solid"/>
            <a:round/>
            <a:headEnd type="none" w="lg" len="lg"/>
            <a:tailEnd type="arrow" w="lg" len="lg"/>
          </a:ln>
        </p:spPr>
      </p:cxnSp>
      <p:cxnSp>
        <p:nvCxnSpPr>
          <p:cNvPr id="21" name="Connector 7">
            <a:extLst>
              <a:ext uri="{FF2B5EF4-FFF2-40B4-BE49-F238E27FC236}">
                <a16:creationId xmlns:a16="http://schemas.microsoft.com/office/drawing/2014/main" id="{6196C96D-E332-2696-9484-B28063128009}"/>
              </a:ext>
            </a:extLst>
          </p:cNvPr>
          <p:cNvCxnSpPr>
            <a:cxnSpLocks/>
          </p:cNvCxnSpPr>
          <p:nvPr/>
        </p:nvCxnSpPr>
        <p:spPr>
          <a:xfrm rot="-57290">
            <a:off x="2591022" y="2830906"/>
            <a:ext cx="1080000" cy="12700"/>
          </a:xfrm>
          <a:prstGeom prst="straightConnector1">
            <a:avLst/>
          </a:prstGeom>
          <a:solidFill>
            <a:srgbClr val="DEE0E3">
              <a:alpha val="100000"/>
            </a:srgbClr>
          </a:solidFill>
          <a:ln w="25400" cap="flat" cmpd="sng">
            <a:solidFill>
              <a:srgbClr val="84828E">
                <a:alpha val="100000"/>
              </a:srgbClr>
            </a:solidFill>
            <a:prstDash val="solid"/>
            <a:round/>
            <a:headEnd type="none" w="lg" len="lg"/>
            <a:tailEnd type="arrow" w="lg" len="lg"/>
          </a:ln>
        </p:spPr>
      </p:cxnSp>
      <p:sp>
        <p:nvSpPr>
          <p:cNvPr id="22" name="TextBox 21">
            <a:extLst>
              <a:ext uri="{FF2B5EF4-FFF2-40B4-BE49-F238E27FC236}">
                <a16:creationId xmlns:a16="http://schemas.microsoft.com/office/drawing/2014/main" id="{3E119591-AAE6-1457-E5DC-F88ADC56CCBB}"/>
              </a:ext>
            </a:extLst>
          </p:cNvPr>
          <p:cNvSpPr txBox="1"/>
          <p:nvPr/>
        </p:nvSpPr>
        <p:spPr>
          <a:xfrm>
            <a:off x="941765" y="3038468"/>
            <a:ext cx="1377689" cy="323165"/>
          </a:xfrm>
          <a:prstGeom prst="rect">
            <a:avLst/>
          </a:prstGeom>
          <a:noFill/>
        </p:spPr>
        <p:txBody>
          <a:bodyPr wrap="square" rtlCol="0">
            <a:spAutoFit/>
          </a:bodyPr>
          <a:lstStyle/>
          <a:p>
            <a:pPr algn="ctr"/>
            <a:r>
              <a:rPr lang="en-SG" sz="1500" b="1" dirty="0">
                <a:solidFill>
                  <a:srgbClr val="53195D"/>
                </a:solidFill>
                <a:latin typeface="Poppins"/>
                <a:cs typeface="Poppins"/>
              </a:rPr>
              <a:t>Raw Files</a:t>
            </a:r>
          </a:p>
        </p:txBody>
      </p:sp>
      <p:sp>
        <p:nvSpPr>
          <p:cNvPr id="24" name="TextBox 23">
            <a:extLst>
              <a:ext uri="{FF2B5EF4-FFF2-40B4-BE49-F238E27FC236}">
                <a16:creationId xmlns:a16="http://schemas.microsoft.com/office/drawing/2014/main" id="{37E2B727-66AA-689F-62E2-4921C9871ADB}"/>
              </a:ext>
            </a:extLst>
          </p:cNvPr>
          <p:cNvSpPr txBox="1"/>
          <p:nvPr/>
        </p:nvSpPr>
        <p:spPr>
          <a:xfrm>
            <a:off x="3868457" y="3043576"/>
            <a:ext cx="1377689" cy="323165"/>
          </a:xfrm>
          <a:prstGeom prst="rect">
            <a:avLst/>
          </a:prstGeom>
          <a:noFill/>
        </p:spPr>
        <p:txBody>
          <a:bodyPr wrap="square" rtlCol="0">
            <a:spAutoFit/>
          </a:bodyPr>
          <a:lstStyle/>
          <a:p>
            <a:pPr algn="ctr"/>
            <a:r>
              <a:rPr lang="en-SG" sz="1500" b="1" dirty="0">
                <a:solidFill>
                  <a:srgbClr val="53195D"/>
                </a:solidFill>
                <a:latin typeface="Poppins"/>
                <a:cs typeface="Poppins"/>
              </a:rPr>
              <a:t>Python</a:t>
            </a:r>
          </a:p>
        </p:txBody>
      </p:sp>
      <p:sp>
        <p:nvSpPr>
          <p:cNvPr id="25" name="TextBox 24">
            <a:extLst>
              <a:ext uri="{FF2B5EF4-FFF2-40B4-BE49-F238E27FC236}">
                <a16:creationId xmlns:a16="http://schemas.microsoft.com/office/drawing/2014/main" id="{0C7CAC55-8115-1F8D-26C5-0FEC59F941B0}"/>
              </a:ext>
            </a:extLst>
          </p:cNvPr>
          <p:cNvSpPr txBox="1"/>
          <p:nvPr/>
        </p:nvSpPr>
        <p:spPr>
          <a:xfrm>
            <a:off x="6850546" y="3038467"/>
            <a:ext cx="1377689" cy="323165"/>
          </a:xfrm>
          <a:prstGeom prst="rect">
            <a:avLst/>
          </a:prstGeom>
          <a:noFill/>
        </p:spPr>
        <p:txBody>
          <a:bodyPr wrap="square" rtlCol="0">
            <a:spAutoFit/>
          </a:bodyPr>
          <a:lstStyle/>
          <a:p>
            <a:pPr algn="ctr"/>
            <a:r>
              <a:rPr lang="en-SG" sz="1500" b="1" dirty="0">
                <a:solidFill>
                  <a:srgbClr val="53195D"/>
                </a:solidFill>
                <a:latin typeface="Poppins"/>
                <a:cs typeface="Poppins"/>
              </a:rPr>
              <a:t>SQL</a:t>
            </a:r>
          </a:p>
        </p:txBody>
      </p:sp>
      <p:sp>
        <p:nvSpPr>
          <p:cNvPr id="26" name="TextBox 25">
            <a:extLst>
              <a:ext uri="{FF2B5EF4-FFF2-40B4-BE49-F238E27FC236}">
                <a16:creationId xmlns:a16="http://schemas.microsoft.com/office/drawing/2014/main" id="{BE0A28DD-9DDB-F439-39EA-C6881BF6D40C}"/>
              </a:ext>
            </a:extLst>
          </p:cNvPr>
          <p:cNvSpPr txBox="1"/>
          <p:nvPr/>
        </p:nvSpPr>
        <p:spPr>
          <a:xfrm>
            <a:off x="9661390" y="3038467"/>
            <a:ext cx="1377689" cy="323165"/>
          </a:xfrm>
          <a:prstGeom prst="rect">
            <a:avLst/>
          </a:prstGeom>
          <a:noFill/>
        </p:spPr>
        <p:txBody>
          <a:bodyPr wrap="square" rtlCol="0">
            <a:spAutoFit/>
          </a:bodyPr>
          <a:lstStyle/>
          <a:p>
            <a:pPr algn="ctr"/>
            <a:r>
              <a:rPr lang="en-SG" sz="1500" b="1" dirty="0">
                <a:solidFill>
                  <a:srgbClr val="53195D"/>
                </a:solidFill>
                <a:latin typeface="Poppins"/>
                <a:cs typeface="Poppins"/>
              </a:rPr>
              <a:t>Power BI</a:t>
            </a:r>
          </a:p>
        </p:txBody>
      </p:sp>
      <p:sp>
        <p:nvSpPr>
          <p:cNvPr id="29" name="TextBox 28">
            <a:extLst>
              <a:ext uri="{FF2B5EF4-FFF2-40B4-BE49-F238E27FC236}">
                <a16:creationId xmlns:a16="http://schemas.microsoft.com/office/drawing/2014/main" id="{66CEEC75-77AD-6CB0-183A-F02E873CDC7C}"/>
              </a:ext>
            </a:extLst>
          </p:cNvPr>
          <p:cNvSpPr txBox="1"/>
          <p:nvPr/>
        </p:nvSpPr>
        <p:spPr>
          <a:xfrm>
            <a:off x="3475323" y="3994072"/>
            <a:ext cx="6156489" cy="1856919"/>
          </a:xfrm>
          <a:prstGeom prst="rect">
            <a:avLst/>
          </a:prstGeom>
          <a:noFill/>
        </p:spPr>
        <p:txBody>
          <a:bodyPr wrap="square">
            <a:spAutoFit/>
          </a:bodyPr>
          <a:lstStyle/>
          <a:p>
            <a:pPr marL="0" marR="0" lvl="0" indent="0" algn="l" defTabSz="914400" rtl="0" eaLnBrk="0" fontAlgn="base" latinLnBrk="0" hangingPunct="0">
              <a:lnSpc>
                <a:spcPct val="200000"/>
              </a:lnSpc>
              <a:spcBef>
                <a:spcPct val="0"/>
              </a:spcBef>
              <a:spcAft>
                <a:spcPct val="0"/>
              </a:spcAft>
              <a:buClrTx/>
              <a:buSzTx/>
              <a:tabLst/>
            </a:pPr>
            <a:r>
              <a:rPr lang="en-US" altLang="en-US" sz="2000" b="1" dirty="0">
                <a:solidFill>
                  <a:srgbClr val="53195D"/>
                </a:solidFill>
                <a:latin typeface="Poppins"/>
                <a:cs typeface="Poppins"/>
              </a:rPr>
              <a:t>Python:   </a:t>
            </a:r>
            <a:r>
              <a:rPr kumimoji="0" lang="en-US" altLang="en-US" sz="1800" b="0" i="0" u="none" strike="noStrike" cap="none" normalizeH="0" baseline="0" dirty="0">
                <a:ln>
                  <a:noFill/>
                </a:ln>
                <a:solidFill>
                  <a:schemeClr val="tx1"/>
                </a:solidFill>
                <a:effectLst/>
                <a:latin typeface="Arial" panose="020B0604020202020204" pitchFamily="34" charset="0"/>
              </a:rPr>
              <a:t>data cleaning &amp; preparation</a:t>
            </a:r>
          </a:p>
          <a:p>
            <a:pPr marL="0" marR="0" lvl="0" indent="0" algn="l" defTabSz="914400" rtl="0" eaLnBrk="0" fontAlgn="base" latinLnBrk="0" hangingPunct="0">
              <a:lnSpc>
                <a:spcPct val="200000"/>
              </a:lnSpc>
              <a:spcBef>
                <a:spcPct val="0"/>
              </a:spcBef>
              <a:spcAft>
                <a:spcPct val="0"/>
              </a:spcAft>
              <a:buClrTx/>
              <a:buSzTx/>
              <a:tabLst/>
            </a:pPr>
            <a:r>
              <a:rPr lang="en-US" altLang="en-US" sz="2000" b="1" dirty="0">
                <a:solidFill>
                  <a:srgbClr val="53195D"/>
                </a:solidFill>
                <a:latin typeface="Poppins"/>
                <a:cs typeface="Poppins"/>
              </a:rPr>
              <a:t>SQL:  </a:t>
            </a:r>
            <a:r>
              <a:rPr kumimoji="0" lang="en-US" altLang="en-US" sz="1800" b="0" i="0" u="none" strike="noStrike" cap="none" normalizeH="0" baseline="0" dirty="0">
                <a:ln>
                  <a:noFill/>
                </a:ln>
                <a:solidFill>
                  <a:schemeClr val="tx1"/>
                </a:solidFill>
                <a:effectLst/>
                <a:latin typeface="Arial" panose="020B0604020202020204" pitchFamily="34" charset="0"/>
              </a:rPr>
              <a:t>validation &amp; business logic</a:t>
            </a:r>
          </a:p>
          <a:p>
            <a:pPr marL="0" marR="0" lvl="0" indent="0" algn="l" defTabSz="914400" rtl="0" eaLnBrk="0" fontAlgn="base" latinLnBrk="0" hangingPunct="0">
              <a:lnSpc>
                <a:spcPct val="200000"/>
              </a:lnSpc>
              <a:spcBef>
                <a:spcPct val="0"/>
              </a:spcBef>
              <a:spcAft>
                <a:spcPct val="0"/>
              </a:spcAft>
              <a:buClrTx/>
              <a:buSzTx/>
              <a:tabLst/>
            </a:pPr>
            <a:r>
              <a:rPr lang="en-US" altLang="en-US" sz="2000" b="1" dirty="0">
                <a:solidFill>
                  <a:srgbClr val="53195D"/>
                </a:solidFill>
                <a:latin typeface="Poppins"/>
                <a:cs typeface="Poppins"/>
              </a:rPr>
              <a:t>Power BI:  </a:t>
            </a:r>
            <a:r>
              <a:rPr kumimoji="0" lang="en-US" altLang="en-US" sz="1800" b="0" i="0" u="none" strike="noStrike" cap="none" normalizeH="0" baseline="0" dirty="0">
                <a:ln>
                  <a:noFill/>
                </a:ln>
                <a:solidFill>
                  <a:schemeClr val="tx1"/>
                </a:solidFill>
                <a:effectLst/>
                <a:latin typeface="Arial" panose="020B0604020202020204" pitchFamily="34" charset="0"/>
              </a:rPr>
              <a:t>analysis &amp; visualization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05898"/>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3600" b="1" dirty="0">
                <a:solidFill>
                  <a:srgbClr val="53195D"/>
                </a:solidFill>
                <a:latin typeface="Montserrat"/>
              </a:rPr>
              <a:t>Python Data Cleaning – Sample Code</a:t>
            </a:r>
            <a:endParaRPr lang="en-US" sz="1100" dirty="0"/>
          </a:p>
        </p:txBody>
      </p:sp>
      <p:sp>
        <p:nvSpPr>
          <p:cNvPr id="14" name="TextBox 13">
            <a:extLst>
              <a:ext uri="{FF2B5EF4-FFF2-40B4-BE49-F238E27FC236}">
                <a16:creationId xmlns:a16="http://schemas.microsoft.com/office/drawing/2014/main" id="{F23A5E10-CFC1-3A04-FA3D-E95AC5812993}"/>
              </a:ext>
            </a:extLst>
          </p:cNvPr>
          <p:cNvSpPr txBox="1"/>
          <p:nvPr/>
        </p:nvSpPr>
        <p:spPr>
          <a:xfrm>
            <a:off x="7345345" y="1294036"/>
            <a:ext cx="4626938"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eaLnBrk="0" fontAlgn="base" hangingPunct="0">
              <a:spcBef>
                <a:spcPct val="0"/>
              </a:spcBef>
              <a:spcAft>
                <a:spcPct val="0"/>
              </a:spcAft>
              <a:buClrTx/>
            </a:pPr>
            <a:r>
              <a:rPr lang="en-SG" sz="1800" b="1" dirty="0">
                <a:solidFill>
                  <a:srgbClr val="53195D"/>
                </a:solidFill>
                <a:latin typeface="Montserrat"/>
              </a:rPr>
              <a:t>Type conversion </a:t>
            </a:r>
          </a:p>
          <a:p>
            <a:pPr lvl="0" eaLnBrk="0" fontAlgn="base" hangingPunct="0">
              <a:lnSpc>
                <a:spcPct val="150000"/>
              </a:lnSpc>
              <a:spcBef>
                <a:spcPct val="0"/>
              </a:spcBef>
              <a:spcAft>
                <a:spcPct val="0"/>
              </a:spcAft>
              <a:buClrTx/>
            </a:pPr>
            <a:endParaRPr lang="en-SG" sz="1200" dirty="0"/>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sp>
        <p:nvSpPr>
          <p:cNvPr id="3" name="TextBox 2">
            <a:extLst>
              <a:ext uri="{FF2B5EF4-FFF2-40B4-BE49-F238E27FC236}">
                <a16:creationId xmlns:a16="http://schemas.microsoft.com/office/drawing/2014/main" id="{F4EEB087-7636-EE42-E537-0D05C509465F}"/>
              </a:ext>
            </a:extLst>
          </p:cNvPr>
          <p:cNvSpPr txBox="1"/>
          <p:nvPr/>
        </p:nvSpPr>
        <p:spPr>
          <a:xfrm>
            <a:off x="219717" y="1294036"/>
            <a:ext cx="6727494"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lvl="0" eaLnBrk="0" fontAlgn="base" hangingPunct="0">
              <a:spcBef>
                <a:spcPct val="0"/>
              </a:spcBef>
              <a:spcAft>
                <a:spcPct val="0"/>
              </a:spcAft>
              <a:buClrTx/>
            </a:pPr>
            <a:r>
              <a:rPr lang="en-SG" sz="1800" b="1" dirty="0">
                <a:solidFill>
                  <a:srgbClr val="53195D"/>
                </a:solidFill>
                <a:latin typeface="Montserrat"/>
              </a:rPr>
              <a:t>File concatenation</a:t>
            </a: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r>
              <a:rPr lang="en-SG" sz="1800" b="1" dirty="0">
                <a:solidFill>
                  <a:srgbClr val="53195D"/>
                </a:solidFill>
                <a:latin typeface="Montserrat"/>
              </a:rPr>
              <a:t>							</a:t>
            </a:r>
          </a:p>
          <a:p>
            <a:pPr eaLnBrk="0" fontAlgn="base" hangingPunct="0">
              <a:spcBef>
                <a:spcPct val="0"/>
              </a:spcBef>
              <a:spcAft>
                <a:spcPct val="0"/>
              </a:spcAft>
              <a:buClrTx/>
            </a:pPr>
            <a:r>
              <a:rPr lang="en-SG" sz="1800" b="1" dirty="0">
                <a:solidFill>
                  <a:srgbClr val="53195D"/>
                </a:solidFill>
                <a:latin typeface="Montserrat"/>
              </a:rPr>
              <a:t>Null handling</a:t>
            </a:r>
            <a:endParaRPr lang="en-US" altLang="en-US" sz="1200" dirty="0">
              <a:solidFill>
                <a:schemeClr val="tx1"/>
              </a:solidFill>
              <a:latin typeface="Arial" panose="020B0604020202020204" pitchFamily="34" charset="0"/>
            </a:endParaRPr>
          </a:p>
          <a:p>
            <a:pPr eaLnBrk="0" fontAlgn="base" hangingPunct="0">
              <a:spcBef>
                <a:spcPct val="0"/>
              </a:spcBef>
              <a:spcAft>
                <a:spcPct val="0"/>
              </a:spcAft>
              <a:buClrTx/>
            </a:pPr>
            <a:endParaRPr lang="en-SG" sz="1800" b="1" dirty="0">
              <a:solidFill>
                <a:srgbClr val="53195D"/>
              </a:solidFill>
              <a:latin typeface="Montserrat"/>
            </a:endParaRPr>
          </a:p>
          <a:p>
            <a:pPr lvl="0" eaLnBrk="0" fontAlgn="base" hangingPunct="0">
              <a:lnSpc>
                <a:spcPct val="150000"/>
              </a:lnSpc>
              <a:spcBef>
                <a:spcPct val="0"/>
              </a:spcBef>
              <a:spcAft>
                <a:spcPct val="0"/>
              </a:spcAft>
              <a:buClrTx/>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sz="1200" dirty="0"/>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4" name="Picture 3">
            <a:extLst>
              <a:ext uri="{FF2B5EF4-FFF2-40B4-BE49-F238E27FC236}">
                <a16:creationId xmlns:a16="http://schemas.microsoft.com/office/drawing/2014/main" id="{E6F2FD52-BDED-59F4-D5FF-38B7BBE64497}"/>
              </a:ext>
            </a:extLst>
          </p:cNvPr>
          <p:cNvPicPr>
            <a:picLocks noChangeAspect="1"/>
          </p:cNvPicPr>
          <p:nvPr/>
        </p:nvPicPr>
        <p:blipFill>
          <a:blip r:embed="rId3"/>
          <a:stretch>
            <a:fillRect/>
          </a:stretch>
        </p:blipFill>
        <p:spPr>
          <a:xfrm>
            <a:off x="282649" y="2056646"/>
            <a:ext cx="6589220" cy="2130528"/>
          </a:xfrm>
          <a:prstGeom prst="rect">
            <a:avLst/>
          </a:prstGeom>
        </p:spPr>
      </p:pic>
      <p:pic>
        <p:nvPicPr>
          <p:cNvPr id="5" name="Picture 4">
            <a:extLst>
              <a:ext uri="{FF2B5EF4-FFF2-40B4-BE49-F238E27FC236}">
                <a16:creationId xmlns:a16="http://schemas.microsoft.com/office/drawing/2014/main" id="{5E48AC80-EAB5-153F-E8F0-7E03CE1E3B9F}"/>
              </a:ext>
            </a:extLst>
          </p:cNvPr>
          <p:cNvPicPr>
            <a:picLocks noChangeAspect="1"/>
          </p:cNvPicPr>
          <p:nvPr/>
        </p:nvPicPr>
        <p:blipFill>
          <a:blip r:embed="rId4"/>
          <a:stretch>
            <a:fillRect/>
          </a:stretch>
        </p:blipFill>
        <p:spPr>
          <a:xfrm>
            <a:off x="282648" y="5163015"/>
            <a:ext cx="6589221" cy="1137425"/>
          </a:xfrm>
          <a:prstGeom prst="rect">
            <a:avLst/>
          </a:prstGeom>
        </p:spPr>
      </p:pic>
      <p:pic>
        <p:nvPicPr>
          <p:cNvPr id="8" name="Picture 7">
            <a:extLst>
              <a:ext uri="{FF2B5EF4-FFF2-40B4-BE49-F238E27FC236}">
                <a16:creationId xmlns:a16="http://schemas.microsoft.com/office/drawing/2014/main" id="{F266ECBA-EC02-34D3-45E0-6C53D212CA3E}"/>
              </a:ext>
            </a:extLst>
          </p:cNvPr>
          <p:cNvPicPr>
            <a:picLocks noChangeAspect="1"/>
          </p:cNvPicPr>
          <p:nvPr/>
        </p:nvPicPr>
        <p:blipFill>
          <a:blip r:embed="rId5"/>
          <a:stretch>
            <a:fillRect/>
          </a:stretch>
        </p:blipFill>
        <p:spPr>
          <a:xfrm>
            <a:off x="7415085" y="1913804"/>
            <a:ext cx="4442000" cy="43866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Executive Summary</a:t>
            </a:r>
            <a:endParaRPr lang="en-US" sz="3600" b="1" dirty="0">
              <a:solidFill>
                <a:srgbClr val="53195D"/>
              </a:solidFill>
              <a:latin typeface="Montserrat"/>
            </a:endParaRPr>
          </a:p>
        </p:txBody>
      </p:sp>
      <p:sp>
        <p:nvSpPr>
          <p:cNvPr id="8" name="AutoShape 5">
            <a:extLst>
              <a:ext uri="{FF2B5EF4-FFF2-40B4-BE49-F238E27FC236}">
                <a16:creationId xmlns:a16="http://schemas.microsoft.com/office/drawing/2014/main" id="{A3EC9CFA-992E-7144-EBE6-F47B6DB7D4C7}"/>
              </a:ext>
            </a:extLst>
          </p:cNvPr>
          <p:cNvSpPr/>
          <p:nvPr/>
        </p:nvSpPr>
        <p:spPr>
          <a:xfrm>
            <a:off x="569809" y="3071971"/>
            <a:ext cx="11239332" cy="3629911"/>
          </a:xfrm>
          <a:prstGeom prst="roundRect">
            <a:avLst>
              <a:gd name="adj" fmla="val 6666"/>
            </a:avLst>
          </a:prstGeom>
          <a:solidFill>
            <a:srgbClr val="441D4B">
              <a:alpha val="30196"/>
            </a:srgbClr>
          </a:solidFill>
          <a:ln w="25400" cap="flat" cmpd="sng">
            <a:noFill/>
            <a:prstDash val="solid"/>
            <a:round/>
          </a:ln>
        </p:spPr>
        <p:txBody>
          <a:bodyPr vert="horz" wrap="square" lIns="381000" tIns="0" rIns="0" bIns="0" rtlCol="0" anchor="ctr" anchorCtr="0">
            <a:normAutofit/>
          </a:bodyPr>
          <a:lstStyle/>
          <a:p>
            <a:pPr>
              <a:lnSpc>
                <a:spcPct val="200000"/>
              </a:lnSpc>
            </a:pPr>
            <a:endParaRPr lang="en-US" dirty="0"/>
          </a:p>
        </p:txBody>
      </p:sp>
      <p:pic>
        <p:nvPicPr>
          <p:cNvPr id="10" name="Picture 9">
            <a:extLst>
              <a:ext uri="{FF2B5EF4-FFF2-40B4-BE49-F238E27FC236}">
                <a16:creationId xmlns:a16="http://schemas.microsoft.com/office/drawing/2014/main" id="{EBABF321-3DC4-77FF-595C-D4D0A51A3369}"/>
              </a:ext>
            </a:extLst>
          </p:cNvPr>
          <p:cNvPicPr>
            <a:picLocks noChangeAspect="1"/>
          </p:cNvPicPr>
          <p:nvPr/>
        </p:nvPicPr>
        <p:blipFill>
          <a:blip r:embed="rId3"/>
          <a:stretch>
            <a:fillRect/>
          </a:stretch>
        </p:blipFill>
        <p:spPr>
          <a:xfrm>
            <a:off x="65822" y="1741044"/>
            <a:ext cx="12126178" cy="986883"/>
          </a:xfrm>
          <a:prstGeom prst="rect">
            <a:avLst/>
          </a:prstGeom>
        </p:spPr>
      </p:pic>
      <p:sp>
        <p:nvSpPr>
          <p:cNvPr id="13" name="TextBox 12">
            <a:extLst>
              <a:ext uri="{FF2B5EF4-FFF2-40B4-BE49-F238E27FC236}">
                <a16:creationId xmlns:a16="http://schemas.microsoft.com/office/drawing/2014/main" id="{3C634008-8D9B-F36F-3BD8-ADBED568156E}"/>
              </a:ext>
            </a:extLst>
          </p:cNvPr>
          <p:cNvSpPr txBox="1"/>
          <p:nvPr/>
        </p:nvSpPr>
        <p:spPr>
          <a:xfrm>
            <a:off x="1226634" y="3329900"/>
            <a:ext cx="8051180" cy="3262432"/>
          </a:xfrm>
          <a:prstGeom prst="rect">
            <a:avLst/>
          </a:prstGeom>
          <a:noFill/>
        </p:spPr>
        <p:txBody>
          <a:bodyPr wrap="square" rtlCol="0">
            <a:spAutoFit/>
          </a:bodyPr>
          <a:lstStyle/>
          <a:p>
            <a:pPr marL="285750" lvl="0" indent="-285750" algn="just"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Total sales amount to 261.96M, showing strong revenue scale</a:t>
            </a:r>
          </a:p>
          <a:p>
            <a:pPr marL="285750" lvl="0" indent="-285750" algn="just"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The catalog contains 237K products, indicating wide assortment</a:t>
            </a:r>
          </a:p>
          <a:p>
            <a:pPr marL="285750" lvl="0" indent="-285750" algn="just"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Average customer rating is 3.81, reflecting generally positive feedback</a:t>
            </a:r>
          </a:p>
          <a:p>
            <a:pPr marL="285750" lvl="0" indent="-285750" algn="just"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Average discount rate is 55.19%, highlighting a discount-heavy pricing strategy</a:t>
            </a:r>
          </a:p>
          <a:p>
            <a:pPr marL="285750" lvl="0" indent="-285750" algn="just" eaLnBrk="0" fontAlgn="base" hangingPunct="0">
              <a:lnSpc>
                <a:spcPct val="200000"/>
              </a:lnSpc>
              <a:spcBef>
                <a:spcPct val="0"/>
              </a:spcBef>
              <a:spcAft>
                <a:spcPct val="0"/>
              </a:spcAft>
              <a:buClrTx/>
              <a:buFont typeface="Wingdings" panose="05000000000000000000" pitchFamily="2" charset="2"/>
              <a:buChar char="§"/>
            </a:pPr>
            <a:r>
              <a:rPr lang="en-US" sz="1600" dirty="0"/>
              <a:t>Value Score is relatively low (0.01) indicating discounts alone are not enough to create value, customer ratings and experience also play a key role</a:t>
            </a:r>
            <a:r>
              <a:rPr lang="en-US" dirty="0"/>
              <a:t>.</a:t>
            </a:r>
            <a:endParaRPr lang="en-US" altLang="en-US" dirty="0">
              <a:solidFill>
                <a:schemeClr val="tx1"/>
              </a:solidFill>
              <a:latin typeface="Arial" panose="020B0604020202020204" pitchFamily="34" charset="0"/>
            </a:endParaRPr>
          </a:p>
          <a:p>
            <a:endParaRPr lang="en-S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D8AD38AA-B1D3-0C57-2849-7EAD537F56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D4A954E-3A48-922F-6B64-3840C513317A}"/>
              </a:ext>
            </a:extLst>
          </p:cNvPr>
          <p:cNvSpPr/>
          <p:nvPr/>
        </p:nvSpPr>
        <p:spPr>
          <a:xfrm>
            <a:off x="762000" y="305898"/>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Category Performance</a:t>
            </a:r>
            <a:endParaRPr lang="en-US" sz="3600" b="1" dirty="0">
              <a:solidFill>
                <a:srgbClr val="53195D"/>
              </a:solidFill>
              <a:latin typeface="Montserrat"/>
            </a:endParaRPr>
          </a:p>
        </p:txBody>
      </p:sp>
      <p:sp>
        <p:nvSpPr>
          <p:cNvPr id="14" name="TextBox 13">
            <a:extLst>
              <a:ext uri="{FF2B5EF4-FFF2-40B4-BE49-F238E27FC236}">
                <a16:creationId xmlns:a16="http://schemas.microsoft.com/office/drawing/2014/main" id="{78DC8AF8-CB6B-3EA2-EB5E-B87F08E26BFA}"/>
              </a:ext>
            </a:extLst>
          </p:cNvPr>
          <p:cNvSpPr txBox="1"/>
          <p:nvPr/>
        </p:nvSpPr>
        <p:spPr>
          <a:xfrm>
            <a:off x="7323043" y="1152102"/>
            <a:ext cx="4501661"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lvl="0" eaLnBrk="0" fontAlgn="base" hangingPunct="0">
              <a:spcBef>
                <a:spcPct val="0"/>
              </a:spcBef>
              <a:spcAft>
                <a:spcPct val="0"/>
              </a:spcAft>
              <a:buClrTx/>
            </a:pPr>
            <a:endParaRPr lang="en-SG" sz="1800" b="1" dirty="0">
              <a:solidFill>
                <a:srgbClr val="53195D"/>
              </a:solidFill>
              <a:latin typeface="Montserrat"/>
            </a:endParaRPr>
          </a:p>
          <a:p>
            <a:pPr lvl="0" eaLnBrk="0" fontAlgn="base" hangingPunct="0">
              <a:spcBef>
                <a:spcPct val="0"/>
              </a:spcBef>
              <a:spcAft>
                <a:spcPct val="0"/>
              </a:spcAft>
              <a:buClrTx/>
            </a:pPr>
            <a:r>
              <a:rPr lang="en-SG" sz="1800" b="1" dirty="0">
                <a:solidFill>
                  <a:srgbClr val="53195D"/>
                </a:solidFill>
                <a:latin typeface="Montserrat"/>
              </a:rPr>
              <a:t>Products vs Sales</a:t>
            </a:r>
            <a:endParaRPr lang="en-US" altLang="en-US" sz="1800" b="1" dirty="0">
              <a:solidFill>
                <a:srgbClr val="53195D"/>
              </a:solidFill>
              <a:latin typeface="Montserrat"/>
            </a:endParaRPr>
          </a:p>
          <a:p>
            <a:pPr eaLnBrk="0" fontAlgn="base" hangingPunct="0">
              <a:spcBef>
                <a:spcPct val="0"/>
              </a:spcBef>
              <a:spcAft>
                <a:spcPct val="0"/>
              </a:spcAft>
              <a:buClrTx/>
            </a:pPr>
            <a:endParaRPr lang="en-SG" sz="1800" b="1" dirty="0">
              <a:solidFill>
                <a:srgbClr val="53195D"/>
              </a:solidFill>
              <a:latin typeface="Montserrat"/>
            </a:endParaRPr>
          </a:p>
          <a:p>
            <a:pPr marL="171450" lvl="0" indent="-1714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Accessories and women’s clothing dominate product count</a:t>
            </a:r>
          </a:p>
          <a:p>
            <a:pPr marL="171450" lvl="0" indent="-1714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Categories like TV &amp; audio and appliances generate high sales with fewer products</a:t>
            </a:r>
          </a:p>
          <a:p>
            <a:pPr marL="171450" lvl="0" indent="-1714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Indicates uneven demand efficiency across categories</a:t>
            </a:r>
          </a:p>
          <a:p>
            <a:pPr lvl="0" eaLnBrk="0" fontAlgn="base" hangingPunct="0">
              <a:lnSpc>
                <a:spcPct val="200000"/>
              </a:lnSpc>
              <a:spcBef>
                <a:spcPct val="0"/>
              </a:spcBef>
              <a:spcAft>
                <a:spcPct val="0"/>
              </a:spcAft>
              <a:buClrTx/>
            </a:pPr>
            <a:endParaRPr lang="en-SG" sz="1600" dirty="0"/>
          </a:p>
          <a:p>
            <a:pPr lvl="0" eaLnBrk="0" fontAlgn="base" hangingPunct="0">
              <a:lnSpc>
                <a:spcPct val="150000"/>
              </a:lnSpc>
              <a:spcBef>
                <a:spcPct val="0"/>
              </a:spcBef>
              <a:spcAft>
                <a:spcPct val="0"/>
              </a:spcAft>
              <a:buClrTx/>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4" name="Picture 3">
            <a:extLst>
              <a:ext uri="{FF2B5EF4-FFF2-40B4-BE49-F238E27FC236}">
                <a16:creationId xmlns:a16="http://schemas.microsoft.com/office/drawing/2014/main" id="{641F3382-0EF5-F690-B8D8-AC2BE62D1241}"/>
              </a:ext>
            </a:extLst>
          </p:cNvPr>
          <p:cNvPicPr>
            <a:picLocks noChangeAspect="1"/>
          </p:cNvPicPr>
          <p:nvPr/>
        </p:nvPicPr>
        <p:blipFill>
          <a:blip r:embed="rId3"/>
          <a:stretch>
            <a:fillRect/>
          </a:stretch>
        </p:blipFill>
        <p:spPr>
          <a:xfrm>
            <a:off x="276672" y="1294308"/>
            <a:ext cx="6692840" cy="2667257"/>
          </a:xfrm>
          <a:prstGeom prst="rect">
            <a:avLst/>
          </a:prstGeom>
        </p:spPr>
      </p:pic>
      <p:pic>
        <p:nvPicPr>
          <p:cNvPr id="7" name="Picture 6">
            <a:extLst>
              <a:ext uri="{FF2B5EF4-FFF2-40B4-BE49-F238E27FC236}">
                <a16:creationId xmlns:a16="http://schemas.microsoft.com/office/drawing/2014/main" id="{FA71807E-060B-F995-C95A-C5C3C7476CC6}"/>
              </a:ext>
            </a:extLst>
          </p:cNvPr>
          <p:cNvPicPr>
            <a:picLocks noChangeAspect="1"/>
          </p:cNvPicPr>
          <p:nvPr/>
        </p:nvPicPr>
        <p:blipFill>
          <a:blip r:embed="rId4"/>
          <a:stretch>
            <a:fillRect/>
          </a:stretch>
        </p:blipFill>
        <p:spPr>
          <a:xfrm>
            <a:off x="184736" y="4142640"/>
            <a:ext cx="6871596" cy="2492410"/>
          </a:xfrm>
          <a:prstGeom prst="rect">
            <a:avLst/>
          </a:prstGeom>
        </p:spPr>
      </p:pic>
    </p:spTree>
    <p:extLst>
      <p:ext uri="{BB962C8B-B14F-4D97-AF65-F5344CB8AC3E}">
        <p14:creationId xmlns:p14="http://schemas.microsoft.com/office/powerpoint/2010/main" val="2414252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49539"/>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Discount Analysis</a:t>
            </a:r>
            <a:endParaRPr lang="en-US" sz="3600" b="1" dirty="0">
              <a:solidFill>
                <a:srgbClr val="53195D"/>
              </a:solidFill>
              <a:latin typeface="Montserrat"/>
            </a:endParaRPr>
          </a:p>
        </p:txBody>
      </p:sp>
      <p:sp>
        <p:nvSpPr>
          <p:cNvPr id="18" name="TextBox 17">
            <a:extLst>
              <a:ext uri="{FF2B5EF4-FFF2-40B4-BE49-F238E27FC236}">
                <a16:creationId xmlns:a16="http://schemas.microsoft.com/office/drawing/2014/main" id="{7FD7F302-E83A-AF85-6CE2-E59F99A027D5}"/>
              </a:ext>
            </a:extLst>
          </p:cNvPr>
          <p:cNvSpPr txBox="1"/>
          <p:nvPr/>
        </p:nvSpPr>
        <p:spPr>
          <a:xfrm>
            <a:off x="7425732" y="1011539"/>
            <a:ext cx="4501661"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eaLnBrk="0" fontAlgn="base" hangingPunct="0">
              <a:spcBef>
                <a:spcPct val="0"/>
              </a:spcBef>
              <a:spcAft>
                <a:spcPct val="0"/>
              </a:spcAft>
              <a:buClrTx/>
            </a:pPr>
            <a:endParaRPr lang="en-SG" sz="1800" b="1" dirty="0">
              <a:solidFill>
                <a:srgbClr val="53195D"/>
              </a:solidFill>
              <a:latin typeface="Montserrat"/>
            </a:endParaRPr>
          </a:p>
          <a:p>
            <a:pPr eaLnBrk="0" fontAlgn="base" hangingPunct="0">
              <a:spcBef>
                <a:spcPct val="0"/>
              </a:spcBef>
              <a:spcAft>
                <a:spcPct val="0"/>
              </a:spcAft>
              <a:buClrTx/>
            </a:pPr>
            <a:r>
              <a:rPr lang="en-SG" sz="1800" b="1" dirty="0">
                <a:solidFill>
                  <a:srgbClr val="53195D"/>
                </a:solidFill>
                <a:latin typeface="Montserrat"/>
              </a:rPr>
              <a:t>Discount Strategy by Category</a:t>
            </a:r>
          </a:p>
          <a:p>
            <a:pPr eaLnBrk="0" fontAlgn="base" hangingPunct="0">
              <a:spcBef>
                <a:spcPct val="0"/>
              </a:spcBef>
              <a:spcAft>
                <a:spcPct val="0"/>
              </a:spcAft>
              <a:buClrTx/>
            </a:pPr>
            <a:endParaRPr lang="en-US" altLang="en-US" sz="1200" dirty="0">
              <a:solidFill>
                <a:schemeClr val="tx1"/>
              </a:solidFill>
              <a:latin typeface="Arial" panose="020B0604020202020204" pitchFamily="34" charset="0"/>
            </a:endParaRP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Fashion, home &amp; kitchen, and accessories receive the highest discounts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High discounts are often used in price-sensitive categories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However, heavy discounting may impact margins without guaranteeing higher value perception</a:t>
            </a: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4" name="Picture 3">
            <a:extLst>
              <a:ext uri="{FF2B5EF4-FFF2-40B4-BE49-F238E27FC236}">
                <a16:creationId xmlns:a16="http://schemas.microsoft.com/office/drawing/2014/main" id="{79AEBA1F-BD93-BEF3-F77F-2B0300682193}"/>
              </a:ext>
            </a:extLst>
          </p:cNvPr>
          <p:cNvPicPr>
            <a:picLocks noChangeAspect="1"/>
          </p:cNvPicPr>
          <p:nvPr/>
        </p:nvPicPr>
        <p:blipFill>
          <a:blip r:embed="rId3"/>
          <a:stretch>
            <a:fillRect/>
          </a:stretch>
        </p:blipFill>
        <p:spPr>
          <a:xfrm>
            <a:off x="264607" y="1572322"/>
            <a:ext cx="6787958" cy="4460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20390"/>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Value Score Analysis</a:t>
            </a:r>
            <a:endParaRPr lang="en-US" sz="3600" b="1" dirty="0">
              <a:solidFill>
                <a:srgbClr val="53195D"/>
              </a:solidFill>
              <a:latin typeface="Montserrat"/>
            </a:endParaRPr>
          </a:p>
        </p:txBody>
      </p:sp>
      <p:sp>
        <p:nvSpPr>
          <p:cNvPr id="7" name="TextBox 6">
            <a:extLst>
              <a:ext uri="{FF2B5EF4-FFF2-40B4-BE49-F238E27FC236}">
                <a16:creationId xmlns:a16="http://schemas.microsoft.com/office/drawing/2014/main" id="{A6A61DE5-7698-CD80-A175-8389573FB3E9}"/>
              </a:ext>
            </a:extLst>
          </p:cNvPr>
          <p:cNvSpPr txBox="1"/>
          <p:nvPr/>
        </p:nvSpPr>
        <p:spPr>
          <a:xfrm>
            <a:off x="7430021" y="1282390"/>
            <a:ext cx="4434877"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sz="1800" b="1" dirty="0">
              <a:solidFill>
                <a:srgbClr val="53195D"/>
              </a:solidFill>
              <a:latin typeface="Montserrat"/>
            </a:endParaRPr>
          </a:p>
          <a:p>
            <a:pPr lvl="0" eaLnBrk="0" fontAlgn="base" hangingPunct="0">
              <a:spcBef>
                <a:spcPct val="0"/>
              </a:spcBef>
              <a:spcAft>
                <a:spcPct val="0"/>
              </a:spcAft>
              <a:buClrTx/>
            </a:pPr>
            <a:endParaRPr lang="en-SG" sz="1800" b="1" dirty="0">
              <a:solidFill>
                <a:srgbClr val="53195D"/>
              </a:solidFill>
              <a:latin typeface="Montserrat"/>
            </a:endParaRPr>
          </a:p>
          <a:p>
            <a:pPr lvl="0" eaLnBrk="0" fontAlgn="base" hangingPunct="0">
              <a:spcBef>
                <a:spcPct val="0"/>
              </a:spcBef>
              <a:spcAft>
                <a:spcPct val="0"/>
              </a:spcAft>
              <a:buClrTx/>
            </a:pPr>
            <a:r>
              <a:rPr lang="en-SG" sz="1800" b="1" dirty="0">
                <a:solidFill>
                  <a:srgbClr val="53195D"/>
                </a:solidFill>
                <a:latin typeface="Montserrat"/>
              </a:rPr>
              <a:t>Value Score by Category</a:t>
            </a:r>
          </a:p>
          <a:p>
            <a:pPr>
              <a:lnSpc>
                <a:spcPct val="150000"/>
              </a:lnSpc>
            </a:pPr>
            <a:endParaRPr lang="en-US" dirty="0"/>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Value score measures rating per price unit</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Grocery &amp; gourmet foods and beauty &amp; health show higher value perception</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Some categories with high discounts still deliver lower value scores</a:t>
            </a:r>
          </a:p>
          <a:p>
            <a:pPr marL="28575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Best metric to identify value-for-money products</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lvl="0" eaLnBrk="0" fontAlgn="base" hangingPunct="0">
              <a:lnSpc>
                <a:spcPct val="150000"/>
              </a:lnSpc>
              <a:spcBef>
                <a:spcPct val="0"/>
              </a:spcBef>
              <a:spcAft>
                <a:spcPct val="0"/>
              </a:spcAft>
              <a:buClrTx/>
            </a:pPr>
            <a:endParaRPr lang="en-SG" sz="1200" dirty="0"/>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10" name="Picture 9">
            <a:extLst>
              <a:ext uri="{FF2B5EF4-FFF2-40B4-BE49-F238E27FC236}">
                <a16:creationId xmlns:a16="http://schemas.microsoft.com/office/drawing/2014/main" id="{547FFC3D-C91F-7B88-2661-60BA0F437E86}"/>
              </a:ext>
            </a:extLst>
          </p:cNvPr>
          <p:cNvPicPr>
            <a:picLocks noChangeAspect="1"/>
          </p:cNvPicPr>
          <p:nvPr/>
        </p:nvPicPr>
        <p:blipFill>
          <a:blip r:embed="rId3"/>
          <a:stretch>
            <a:fillRect/>
          </a:stretch>
        </p:blipFill>
        <p:spPr>
          <a:xfrm>
            <a:off x="126627" y="1702905"/>
            <a:ext cx="7012291" cy="45589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36694"/>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3600" b="1" dirty="0">
                <a:solidFill>
                  <a:srgbClr val="53195D"/>
                </a:solidFill>
                <a:latin typeface="Montserrat"/>
              </a:rPr>
              <a:t>Rating vs Price Analysis</a:t>
            </a:r>
          </a:p>
        </p:txBody>
      </p:sp>
      <p:sp>
        <p:nvSpPr>
          <p:cNvPr id="7" name="TextBox 6">
            <a:extLst>
              <a:ext uri="{FF2B5EF4-FFF2-40B4-BE49-F238E27FC236}">
                <a16:creationId xmlns:a16="http://schemas.microsoft.com/office/drawing/2014/main" id="{E56EE6AA-1CDC-10E1-EC6A-5969B21C1558}"/>
              </a:ext>
            </a:extLst>
          </p:cNvPr>
          <p:cNvSpPr txBox="1"/>
          <p:nvPr/>
        </p:nvSpPr>
        <p:spPr>
          <a:xfrm>
            <a:off x="7474626" y="1221306"/>
            <a:ext cx="4434877"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sz="1800" b="1" dirty="0">
              <a:solidFill>
                <a:srgbClr val="53195D"/>
              </a:solidFill>
              <a:latin typeface="Montserrat"/>
            </a:endParaRPr>
          </a:p>
          <a:p>
            <a:pPr lvl="0" eaLnBrk="0" fontAlgn="base" hangingPunct="0">
              <a:spcBef>
                <a:spcPct val="0"/>
              </a:spcBef>
              <a:spcAft>
                <a:spcPct val="0"/>
              </a:spcAft>
              <a:buClrTx/>
            </a:pPr>
            <a:r>
              <a:rPr lang="en-SG" sz="1800" b="1" dirty="0">
                <a:solidFill>
                  <a:srgbClr val="53195D"/>
                </a:solidFill>
                <a:latin typeface="Montserrat"/>
              </a:rPr>
              <a:t>Rating vs Price</a:t>
            </a:r>
          </a:p>
          <a:p>
            <a:pPr>
              <a:lnSpc>
                <a:spcPct val="150000"/>
              </a:lnSpc>
            </a:pPr>
            <a:endParaRPr lang="en-US" dirty="0"/>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This scatter plot compares average discounted price and average rating</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Most categories cluster between 3.7 and 4.0 ratings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Higher price does not guarantee higher ratings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Some low-priced categories maintain strong ratings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Indicates strong customer value perception</a:t>
            </a: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lvl="0" eaLnBrk="0" fontAlgn="base" hangingPunct="0">
              <a:lnSpc>
                <a:spcPct val="150000"/>
              </a:lnSpc>
              <a:spcBef>
                <a:spcPct val="0"/>
              </a:spcBef>
              <a:spcAft>
                <a:spcPct val="0"/>
              </a:spcAft>
              <a:buClrTx/>
            </a:pPr>
            <a:endParaRPr lang="en-SG" sz="1200" dirty="0"/>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11" name="Picture 10">
            <a:extLst>
              <a:ext uri="{FF2B5EF4-FFF2-40B4-BE49-F238E27FC236}">
                <a16:creationId xmlns:a16="http://schemas.microsoft.com/office/drawing/2014/main" id="{0C8D8AF7-C3E9-6C51-1286-9F5E72C326CD}"/>
              </a:ext>
            </a:extLst>
          </p:cNvPr>
          <p:cNvPicPr>
            <a:picLocks noChangeAspect="1"/>
          </p:cNvPicPr>
          <p:nvPr/>
        </p:nvPicPr>
        <p:blipFill>
          <a:blip r:embed="rId3"/>
          <a:stretch>
            <a:fillRect/>
          </a:stretch>
        </p:blipFill>
        <p:spPr>
          <a:xfrm>
            <a:off x="762002" y="1154678"/>
            <a:ext cx="5794916" cy="56058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1119E7A1-0291-112A-72A6-4F251862A1E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36AB118-087F-7A29-0530-31D45F88995A}"/>
              </a:ext>
            </a:extLst>
          </p:cNvPr>
          <p:cNvSpPr/>
          <p:nvPr/>
        </p:nvSpPr>
        <p:spPr>
          <a:xfrm>
            <a:off x="762000" y="236694"/>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US" sz="3600" b="1" dirty="0">
                <a:solidFill>
                  <a:srgbClr val="53195D"/>
                </a:solidFill>
                <a:latin typeface="Montserrat"/>
              </a:rPr>
              <a:t>Low Price &amp; High Rating Products</a:t>
            </a:r>
          </a:p>
        </p:txBody>
      </p:sp>
      <p:sp>
        <p:nvSpPr>
          <p:cNvPr id="7" name="TextBox 6">
            <a:extLst>
              <a:ext uri="{FF2B5EF4-FFF2-40B4-BE49-F238E27FC236}">
                <a16:creationId xmlns:a16="http://schemas.microsoft.com/office/drawing/2014/main" id="{B06E966A-CBF1-429C-A6D8-46B76A7C01B8}"/>
              </a:ext>
            </a:extLst>
          </p:cNvPr>
          <p:cNvSpPr txBox="1"/>
          <p:nvPr/>
        </p:nvSpPr>
        <p:spPr>
          <a:xfrm>
            <a:off x="7270595" y="1154678"/>
            <a:ext cx="4627757"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sz="1800" b="1" dirty="0">
              <a:solidFill>
                <a:srgbClr val="53195D"/>
              </a:solidFill>
              <a:latin typeface="Montserrat"/>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800" dirty="0">
                <a:solidFill>
                  <a:schemeClr val="tx1"/>
                </a:solidFill>
                <a:latin typeface="Arial" panose="020B0604020202020204" pitchFamily="34" charset="0"/>
              </a:rPr>
              <a:t>This table identifies products that are both affordable and highly rated</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800" dirty="0">
                <a:solidFill>
                  <a:schemeClr val="tx1"/>
                </a:solidFill>
                <a:latin typeface="Arial" panose="020B0604020202020204" pitchFamily="34" charset="0"/>
              </a:rPr>
              <a:t>Accessories dominate this list</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800" dirty="0">
                <a:solidFill>
                  <a:schemeClr val="tx1"/>
                </a:solidFill>
                <a:latin typeface="Arial" panose="020B0604020202020204" pitchFamily="34" charset="0"/>
              </a:rPr>
              <a:t>These are hidden value opportunities that can be promoted more aggressively</a:t>
            </a:r>
          </a:p>
          <a:p>
            <a:pPr>
              <a:lnSpc>
                <a:spcPct val="150000"/>
              </a:lnSpc>
            </a:pPr>
            <a:endParaRPr lang="en-US" dirty="0"/>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lvl="0" eaLnBrk="0" fontAlgn="base" hangingPunct="0">
              <a:lnSpc>
                <a:spcPct val="150000"/>
              </a:lnSpc>
              <a:spcBef>
                <a:spcPct val="0"/>
              </a:spcBef>
              <a:spcAft>
                <a:spcPct val="0"/>
              </a:spcAft>
              <a:buClrTx/>
            </a:pPr>
            <a:endParaRPr lang="en-SG" sz="1200" dirty="0"/>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5" name="Picture 4">
            <a:extLst>
              <a:ext uri="{FF2B5EF4-FFF2-40B4-BE49-F238E27FC236}">
                <a16:creationId xmlns:a16="http://schemas.microsoft.com/office/drawing/2014/main" id="{EA49D432-85FA-A35E-F0A1-6DE0DBA1C9CB}"/>
              </a:ext>
            </a:extLst>
          </p:cNvPr>
          <p:cNvPicPr>
            <a:picLocks noChangeAspect="1"/>
          </p:cNvPicPr>
          <p:nvPr/>
        </p:nvPicPr>
        <p:blipFill>
          <a:blip r:embed="rId3"/>
          <a:stretch>
            <a:fillRect/>
          </a:stretch>
        </p:blipFill>
        <p:spPr>
          <a:xfrm>
            <a:off x="762000" y="1150829"/>
            <a:ext cx="5471532" cy="5589264"/>
          </a:xfrm>
          <a:prstGeom prst="rect">
            <a:avLst/>
          </a:prstGeom>
        </p:spPr>
      </p:pic>
    </p:spTree>
    <p:extLst>
      <p:ext uri="{BB962C8B-B14F-4D97-AF65-F5344CB8AC3E}">
        <p14:creationId xmlns:p14="http://schemas.microsoft.com/office/powerpoint/2010/main" val="3072250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83E26EBE-9171-A2E4-01C3-53AFF8025B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4F1D6B-97AF-E132-5696-7D454AEFA86A}"/>
              </a:ext>
            </a:extLst>
          </p:cNvPr>
          <p:cNvSpPr/>
          <p:nvPr/>
        </p:nvSpPr>
        <p:spPr>
          <a:xfrm>
            <a:off x="494371" y="305898"/>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Products Insights</a:t>
            </a:r>
            <a:endParaRPr lang="en-US" sz="3600" b="1" dirty="0">
              <a:solidFill>
                <a:srgbClr val="53195D"/>
              </a:solidFill>
              <a:latin typeface="Montserrat"/>
            </a:endParaRPr>
          </a:p>
        </p:txBody>
      </p:sp>
      <p:sp>
        <p:nvSpPr>
          <p:cNvPr id="14" name="TextBox 13">
            <a:extLst>
              <a:ext uri="{FF2B5EF4-FFF2-40B4-BE49-F238E27FC236}">
                <a16:creationId xmlns:a16="http://schemas.microsoft.com/office/drawing/2014/main" id="{B7583ED7-053A-EBDA-81E4-A91898A33FA6}"/>
              </a:ext>
            </a:extLst>
          </p:cNvPr>
          <p:cNvSpPr txBox="1"/>
          <p:nvPr/>
        </p:nvSpPr>
        <p:spPr>
          <a:xfrm>
            <a:off x="7323043" y="1067898"/>
            <a:ext cx="4592285"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lvl="0" eaLnBrk="0" fontAlgn="base" hangingPunct="0">
              <a:spcBef>
                <a:spcPct val="0"/>
              </a:spcBef>
              <a:spcAft>
                <a:spcPct val="0"/>
              </a:spcAft>
              <a:buClrTx/>
            </a:pPr>
            <a:r>
              <a:rPr lang="en-SG" sz="1800" b="1" dirty="0">
                <a:solidFill>
                  <a:srgbClr val="53195D"/>
                </a:solidFill>
                <a:latin typeface="Montserrat"/>
              </a:rPr>
              <a:t>Top Value Products</a:t>
            </a:r>
          </a:p>
          <a:p>
            <a:pPr lvl="0" eaLnBrk="0" fontAlgn="base" hangingPunct="0">
              <a:spcBef>
                <a:spcPct val="0"/>
              </a:spcBef>
              <a:spcAft>
                <a:spcPct val="0"/>
              </a:spcAft>
              <a:buClrTx/>
              <a:buFontTx/>
              <a:buChar char="•"/>
            </a:pPr>
            <a:endParaRPr lang="en-US" altLang="en-US" sz="1600" b="1"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Amazon eGift Card ranks #1 with a value score of 0.92</a:t>
            </a: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Top products offer the best balance of affordability and customer satisfaction</a:t>
            </a:r>
          </a:p>
          <a:p>
            <a:pPr lvl="0" eaLnBrk="0" fontAlgn="base" hangingPunct="0">
              <a:lnSpc>
                <a:spcPct val="200000"/>
              </a:lnSpc>
              <a:spcBef>
                <a:spcPct val="0"/>
              </a:spcBef>
              <a:spcAft>
                <a:spcPct val="0"/>
              </a:spcAft>
              <a:buClrTx/>
            </a:pPr>
            <a:endParaRPr lang="en-US" altLang="en-US" sz="1600" dirty="0">
              <a:solidFill>
                <a:schemeClr val="tx1"/>
              </a:solidFill>
              <a:latin typeface="Arial" panose="020B0604020202020204" pitchFamily="34" charset="0"/>
            </a:endParaRPr>
          </a:p>
          <a:p>
            <a:pPr eaLnBrk="0" fontAlgn="base" hangingPunct="0">
              <a:spcBef>
                <a:spcPct val="0"/>
              </a:spcBef>
              <a:spcAft>
                <a:spcPct val="0"/>
              </a:spcAft>
              <a:buClrTx/>
            </a:pPr>
            <a:r>
              <a:rPr lang="en-SG" sz="1800" b="1" dirty="0">
                <a:solidFill>
                  <a:srgbClr val="53195D"/>
                </a:solidFill>
                <a:latin typeface="Montserrat"/>
              </a:rPr>
              <a:t>Top Reviewed Products</a:t>
            </a:r>
            <a:endParaRPr lang="en-US" altLang="en-US" sz="1800" b="1" dirty="0">
              <a:solidFill>
                <a:srgbClr val="53195D"/>
              </a:solidFill>
              <a:latin typeface="Montserrat"/>
            </a:endParaRPr>
          </a:p>
          <a:p>
            <a:pPr lvl="0" eaLnBrk="0" fontAlgn="base" hangingPunct="0">
              <a:spcBef>
                <a:spcPct val="0"/>
              </a:spcBef>
              <a:spcAft>
                <a:spcPct val="0"/>
              </a:spcAft>
              <a:buClrTx/>
              <a:buFontTx/>
              <a:buChar char="•"/>
            </a:pPr>
            <a:endParaRPr lang="en-US" altLang="en-US" sz="16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Highly reviewed products indicate strong demand and engagement</a:t>
            </a:r>
          </a:p>
          <a:p>
            <a:pPr marL="285750" lvl="0" indent="-285750" eaLnBrk="0" fontAlgn="base" hangingPunct="0">
              <a:lnSpc>
                <a:spcPct val="15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These products are ideal candidates for promotions, bundles, and recommendations</a:t>
            </a:r>
          </a:p>
          <a:p>
            <a:pPr marL="285750" indent="-285750" eaLnBrk="0" fontAlgn="base" hangingPunct="0">
              <a:lnSpc>
                <a:spcPct val="15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Helps prioritize best-selling products</a:t>
            </a:r>
          </a:p>
          <a:p>
            <a:pPr lvl="0" eaLnBrk="0" fontAlgn="base" hangingPunct="0">
              <a:spcBef>
                <a:spcPct val="0"/>
              </a:spcBef>
              <a:spcAft>
                <a:spcPct val="0"/>
              </a:spcAft>
              <a:buClrTx/>
            </a:pPr>
            <a:endParaRPr lang="en-US" altLang="en-US" sz="16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sz="16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sz="1600" dirty="0">
              <a:solidFill>
                <a:schemeClr val="tx1"/>
              </a:solidFill>
              <a:latin typeface="Arial" panose="020B0604020202020204" pitchFamily="34" charset="0"/>
            </a:endParaRPr>
          </a:p>
          <a:p>
            <a:pPr lvl="0" eaLnBrk="0" fontAlgn="base" hangingPunct="0">
              <a:lnSpc>
                <a:spcPct val="200000"/>
              </a:lnSpc>
              <a:spcBef>
                <a:spcPct val="0"/>
              </a:spcBef>
              <a:spcAft>
                <a:spcPct val="0"/>
              </a:spcAft>
              <a:buClrTx/>
            </a:pPr>
            <a:endParaRPr lang="en-SG" sz="1600" dirty="0"/>
          </a:p>
          <a:p>
            <a:pPr lvl="0" eaLnBrk="0" fontAlgn="base" hangingPunct="0">
              <a:lnSpc>
                <a:spcPct val="150000"/>
              </a:lnSpc>
              <a:spcBef>
                <a:spcPct val="0"/>
              </a:spcBef>
              <a:spcAft>
                <a:spcPct val="0"/>
              </a:spcAft>
              <a:buClrTx/>
            </a:pPr>
            <a:endParaRPr lang="en-US" altLang="en-US" sz="1200"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ClrTx/>
              <a:buFont typeface="Wingdings" panose="05000000000000000000" pitchFamily="2" charset="2"/>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11" name="Picture 10">
            <a:extLst>
              <a:ext uri="{FF2B5EF4-FFF2-40B4-BE49-F238E27FC236}">
                <a16:creationId xmlns:a16="http://schemas.microsoft.com/office/drawing/2014/main" id="{95973D5C-9ABB-A71B-1B05-72C8C574783B}"/>
              </a:ext>
            </a:extLst>
          </p:cNvPr>
          <p:cNvPicPr>
            <a:picLocks noChangeAspect="1"/>
          </p:cNvPicPr>
          <p:nvPr/>
        </p:nvPicPr>
        <p:blipFill>
          <a:blip r:embed="rId3"/>
          <a:stretch>
            <a:fillRect/>
          </a:stretch>
        </p:blipFill>
        <p:spPr>
          <a:xfrm>
            <a:off x="276672" y="1299878"/>
            <a:ext cx="3166910" cy="5252224"/>
          </a:xfrm>
          <a:prstGeom prst="rect">
            <a:avLst/>
          </a:prstGeom>
        </p:spPr>
      </p:pic>
      <p:pic>
        <p:nvPicPr>
          <p:cNvPr id="13" name="Picture 12">
            <a:extLst>
              <a:ext uri="{FF2B5EF4-FFF2-40B4-BE49-F238E27FC236}">
                <a16:creationId xmlns:a16="http://schemas.microsoft.com/office/drawing/2014/main" id="{94BE43D9-F722-466E-90F7-9C749FE1859B}"/>
              </a:ext>
            </a:extLst>
          </p:cNvPr>
          <p:cNvPicPr>
            <a:picLocks noChangeAspect="1"/>
          </p:cNvPicPr>
          <p:nvPr/>
        </p:nvPicPr>
        <p:blipFill>
          <a:blip r:embed="rId4"/>
          <a:stretch>
            <a:fillRect/>
          </a:stretch>
        </p:blipFill>
        <p:spPr>
          <a:xfrm>
            <a:off x="3495621" y="1315613"/>
            <a:ext cx="3525930" cy="5267959"/>
          </a:xfrm>
          <a:prstGeom prst="rect">
            <a:avLst/>
          </a:prstGeom>
        </p:spPr>
      </p:pic>
    </p:spTree>
    <p:extLst>
      <p:ext uri="{BB962C8B-B14F-4D97-AF65-F5344CB8AC3E}">
        <p14:creationId xmlns:p14="http://schemas.microsoft.com/office/powerpoint/2010/main" val="340567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A6FF5D4F-6FD4-C2A9-29A6-C4218F72E5E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7365D99-F468-DCC3-7165-025243042479}"/>
              </a:ext>
            </a:extLst>
          </p:cNvPr>
          <p:cNvSpPr/>
          <p:nvPr/>
        </p:nvSpPr>
        <p:spPr>
          <a:xfrm>
            <a:off x="494371" y="305898"/>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Drill-Through Analysis</a:t>
            </a:r>
            <a:endParaRPr lang="en-US" sz="3600" b="1" dirty="0">
              <a:solidFill>
                <a:srgbClr val="53195D"/>
              </a:solidFill>
              <a:latin typeface="Montserrat"/>
            </a:endParaRPr>
          </a:p>
        </p:txBody>
      </p:sp>
      <p:sp>
        <p:nvSpPr>
          <p:cNvPr id="14" name="TextBox 13">
            <a:extLst>
              <a:ext uri="{FF2B5EF4-FFF2-40B4-BE49-F238E27FC236}">
                <a16:creationId xmlns:a16="http://schemas.microsoft.com/office/drawing/2014/main" id="{4A3883FF-6B04-8346-EF9C-FBC9093B7AA4}"/>
              </a:ext>
            </a:extLst>
          </p:cNvPr>
          <p:cNvSpPr txBox="1"/>
          <p:nvPr/>
        </p:nvSpPr>
        <p:spPr>
          <a:xfrm>
            <a:off x="7323043" y="1067898"/>
            <a:ext cx="4592285" cy="540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lvl="0" eaLnBrk="0" fontAlgn="base" hangingPunct="0">
              <a:spcBef>
                <a:spcPct val="0"/>
              </a:spcBef>
              <a:spcAft>
                <a:spcPct val="0"/>
              </a:spcAft>
              <a:buClrTx/>
            </a:pPr>
            <a:endParaRPr lang="en-US" altLang="en-US" sz="1600" dirty="0">
              <a:solidFill>
                <a:schemeClr val="tx1"/>
              </a:solidFill>
              <a:latin typeface="Arial" panose="020B0604020202020204" pitchFamily="34" charset="0"/>
            </a:endParaRPr>
          </a:p>
          <a:p>
            <a:pPr>
              <a:lnSpc>
                <a:spcPct val="125000"/>
              </a:lnSpc>
              <a:defRPr/>
            </a:pPr>
            <a:r>
              <a:rPr lang="en-US" sz="1800" b="1" dirty="0">
                <a:solidFill>
                  <a:srgbClr val="84828E"/>
                </a:solidFill>
                <a:latin typeface="Poppins"/>
                <a:ea typeface="Poppins"/>
                <a:cs typeface="Poppins"/>
                <a:sym typeface="Poppins"/>
              </a:rPr>
              <a:t>SPOTLIGHT</a:t>
            </a:r>
            <a:endParaRPr lang="en-US" dirty="0"/>
          </a:p>
          <a:p>
            <a:pPr>
              <a:lnSpc>
                <a:spcPct val="125000"/>
              </a:lnSpc>
            </a:pPr>
            <a:r>
              <a:rPr lang="en-US" sz="2800" b="1" u="sng" dirty="0">
                <a:solidFill>
                  <a:srgbClr val="53195D"/>
                </a:solidFill>
                <a:latin typeface="Montserrat" panose="00000500000000000000" pitchFamily="2" charset="0"/>
                <a:ea typeface="Poppins"/>
                <a:cs typeface="Poppins"/>
                <a:sym typeface="Poppins"/>
              </a:rPr>
              <a:t>Home &amp; Kitchen</a:t>
            </a:r>
          </a:p>
          <a:p>
            <a:pPr marL="171450" indent="-171450">
              <a:lnSpc>
                <a:spcPct val="150000"/>
              </a:lnSpc>
              <a:buFont typeface="Wingdings" panose="05000000000000000000" pitchFamily="2" charset="2"/>
              <a:buChar char="§"/>
            </a:pPr>
            <a:endParaRPr lang="en-US" sz="1600" dirty="0"/>
          </a:p>
          <a:p>
            <a:pPr marL="171450" indent="-171450">
              <a:lnSpc>
                <a:spcPct val="200000"/>
              </a:lnSpc>
              <a:buFont typeface="Wingdings" panose="05000000000000000000" pitchFamily="2" charset="2"/>
              <a:buChar char="§"/>
            </a:pPr>
            <a:r>
              <a:rPr lang="en-US" sz="1600" dirty="0"/>
              <a:t>This is a drill-through page that allows          deep analysis of a selected product.</a:t>
            </a:r>
            <a:endParaRPr lang="en-US" altLang="en-US" sz="1600" dirty="0">
              <a:solidFill>
                <a:schemeClr val="tx1"/>
              </a:solidFill>
              <a:latin typeface="Arial" panose="020B0604020202020204" pitchFamily="34" charset="0"/>
            </a:endParaRPr>
          </a:p>
          <a:p>
            <a:pPr marL="285750" indent="-285750">
              <a:lnSpc>
                <a:spcPct val="200000"/>
              </a:lnSpc>
              <a:buFont typeface="Wingdings" panose="05000000000000000000" pitchFamily="2" charset="2"/>
              <a:buChar char="§"/>
            </a:pPr>
            <a:r>
              <a:rPr lang="en-US" sz="1600" dirty="0"/>
              <a:t>Drill-through used for product-level insights</a:t>
            </a:r>
          </a:p>
          <a:p>
            <a:pPr marL="285750" indent="-285750">
              <a:lnSpc>
                <a:spcPct val="200000"/>
              </a:lnSpc>
              <a:buFont typeface="Wingdings" panose="05000000000000000000" pitchFamily="2" charset="2"/>
              <a:buChar char="§"/>
            </a:pPr>
            <a:r>
              <a:rPr lang="en-US" sz="1600" dirty="0"/>
              <a:t>Shows category, subcategory, price, rating, value</a:t>
            </a:r>
          </a:p>
          <a:p>
            <a:pPr marL="285750" indent="-285750">
              <a:lnSpc>
                <a:spcPct val="200000"/>
              </a:lnSpc>
              <a:buFont typeface="Wingdings" panose="05000000000000000000" pitchFamily="2" charset="2"/>
              <a:buChar char="§"/>
            </a:pPr>
            <a:r>
              <a:rPr lang="en-US" sz="1600" dirty="0"/>
              <a:t>Enables deeper analysis without clutter</a:t>
            </a:r>
          </a:p>
          <a:p>
            <a:pPr lvl="0" eaLnBrk="0" fontAlgn="base" hangingPunct="0">
              <a:lnSpc>
                <a:spcPct val="200000"/>
              </a:lnSpc>
              <a:spcBef>
                <a:spcPct val="0"/>
              </a:spcBef>
              <a:spcAft>
                <a:spcPct val="0"/>
              </a:spcAft>
              <a:buClrTx/>
            </a:pPr>
            <a:endParaRPr lang="en-SG" sz="1600" dirty="0"/>
          </a:p>
          <a:p>
            <a:pPr lvl="0" eaLnBrk="0" fontAlgn="base" hangingPunct="0">
              <a:lnSpc>
                <a:spcPct val="150000"/>
              </a:lnSpc>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5" name="Picture 4">
            <a:extLst>
              <a:ext uri="{FF2B5EF4-FFF2-40B4-BE49-F238E27FC236}">
                <a16:creationId xmlns:a16="http://schemas.microsoft.com/office/drawing/2014/main" id="{8DA5DA7E-3766-47F7-8C6A-BC72CF64E448}"/>
              </a:ext>
            </a:extLst>
          </p:cNvPr>
          <p:cNvPicPr>
            <a:picLocks noChangeAspect="1"/>
          </p:cNvPicPr>
          <p:nvPr/>
        </p:nvPicPr>
        <p:blipFill>
          <a:blip r:embed="rId3"/>
          <a:stretch>
            <a:fillRect/>
          </a:stretch>
        </p:blipFill>
        <p:spPr>
          <a:xfrm>
            <a:off x="276672" y="1329400"/>
            <a:ext cx="6992881" cy="5138498"/>
          </a:xfrm>
          <a:prstGeom prst="rect">
            <a:avLst/>
          </a:prstGeom>
        </p:spPr>
      </p:pic>
    </p:spTree>
    <p:extLst>
      <p:ext uri="{BB962C8B-B14F-4D97-AF65-F5344CB8AC3E}">
        <p14:creationId xmlns:p14="http://schemas.microsoft.com/office/powerpoint/2010/main" val="2707405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937DB6CD-1843-2019-811F-D568CEEBB7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44B09D9-74EB-65A2-9601-0213B8AA9E64}"/>
              </a:ext>
            </a:extLst>
          </p:cNvPr>
          <p:cNvSpPr/>
          <p:nvPr/>
        </p:nvSpPr>
        <p:spPr>
          <a:xfrm>
            <a:off x="592824" y="222239"/>
            <a:ext cx="10668000" cy="762000"/>
          </a:xfrm>
          <a:prstGeom prst="rect">
            <a:avLst/>
          </a:prstGeom>
          <a:noFill/>
          <a:ln w="12700" cap="flat" cmpd="sng">
            <a:noFill/>
            <a:prstDash val="solid"/>
            <a:round/>
          </a:ln>
        </p:spPr>
        <p:txBody>
          <a:bodyPr vert="horz" wrap="square" lIns="0" tIns="0" rIns="0" bIns="0" rtlCol="0" anchor="ctr" anchorCtr="0">
            <a:normAutofit/>
          </a:bodyPr>
          <a:lstStyle/>
          <a:p>
            <a:pPr>
              <a:lnSpc>
                <a:spcPct val="125000"/>
              </a:lnSpc>
              <a:defRPr/>
            </a:pPr>
            <a:r>
              <a:rPr lang="en-SG" sz="3600" b="1" dirty="0">
                <a:solidFill>
                  <a:srgbClr val="53195D"/>
                </a:solidFill>
                <a:latin typeface="Montserrat"/>
              </a:rPr>
              <a:t>SQL Integration</a:t>
            </a:r>
            <a:endParaRPr lang="en-US" sz="3600" b="1" dirty="0">
              <a:solidFill>
                <a:srgbClr val="53195D"/>
              </a:solidFill>
              <a:latin typeface="Montserrat"/>
            </a:endParaRPr>
          </a:p>
        </p:txBody>
      </p:sp>
      <p:sp>
        <p:nvSpPr>
          <p:cNvPr id="14" name="TextBox 13">
            <a:extLst>
              <a:ext uri="{FF2B5EF4-FFF2-40B4-BE49-F238E27FC236}">
                <a16:creationId xmlns:a16="http://schemas.microsoft.com/office/drawing/2014/main" id="{4F2E3E51-A1C3-AD78-00EE-5170DA9B802B}"/>
              </a:ext>
            </a:extLst>
          </p:cNvPr>
          <p:cNvSpPr txBox="1"/>
          <p:nvPr/>
        </p:nvSpPr>
        <p:spPr>
          <a:xfrm>
            <a:off x="437125" y="4277953"/>
            <a:ext cx="5489699" cy="2160000"/>
          </a:xfrm>
          <a:prstGeom prst="rect">
            <a:avLst/>
          </a:prstGeom>
          <a:solidFill>
            <a:srgbClr val="441D4B">
              <a:alpha val="30196"/>
            </a:srgbClr>
          </a:solidFill>
        </p:spPr>
        <p:txBody>
          <a:bodyPr wrap="square" rtlCol="0">
            <a:spAutoFit/>
          </a:bodyPr>
          <a:lstStyle/>
          <a:p>
            <a:pPr lvl="0" eaLnBrk="0" fontAlgn="base" hangingPunct="0">
              <a:spcBef>
                <a:spcPct val="0"/>
              </a:spcBef>
              <a:spcAft>
                <a:spcPct val="0"/>
              </a:spcAft>
              <a:buClrTx/>
            </a:pPr>
            <a:endParaRPr lang="en-SG" dirty="0"/>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SQL used for data validation and logic checks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Confirms KPIs, discounts, and value score</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1600" dirty="0">
                <a:solidFill>
                  <a:schemeClr val="tx1"/>
                </a:solidFill>
                <a:latin typeface="Arial" panose="020B0604020202020204" pitchFamily="34" charset="0"/>
              </a:rPr>
              <a:t>Ensures accuracy of Power BI insights</a:t>
            </a:r>
          </a:p>
          <a:p>
            <a:pPr lvl="0" eaLnBrk="0" fontAlgn="base" hangingPunct="0">
              <a:spcBef>
                <a:spcPct val="0"/>
              </a:spcBef>
              <a:spcAft>
                <a:spcPct val="0"/>
              </a:spcAft>
              <a:buClrTx/>
            </a:pPr>
            <a:endParaRPr lang="en-US" altLang="en-US" sz="1600" dirty="0">
              <a:solidFill>
                <a:schemeClr val="tx1"/>
              </a:solidFill>
              <a:latin typeface="Arial" panose="020B0604020202020204" pitchFamily="34" charset="0"/>
            </a:endParaRPr>
          </a:p>
          <a:p>
            <a:pPr lvl="0" eaLnBrk="0" fontAlgn="base" hangingPunct="0">
              <a:lnSpc>
                <a:spcPct val="200000"/>
              </a:lnSpc>
              <a:spcBef>
                <a:spcPct val="0"/>
              </a:spcBef>
              <a:spcAft>
                <a:spcPct val="0"/>
              </a:spcAft>
              <a:buClrTx/>
            </a:pPr>
            <a:endParaRPr lang="en-SG" sz="1600" dirty="0"/>
          </a:p>
          <a:p>
            <a:pPr lvl="0" eaLnBrk="0" fontAlgn="base" hangingPunct="0">
              <a:lnSpc>
                <a:spcPct val="150000"/>
              </a:lnSpc>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buFontTx/>
              <a:buChar char="•"/>
            </a:pPr>
            <a:endParaRPr lang="en-SG" dirty="0"/>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endParaRPr lang="en-US" altLang="en-US" dirty="0">
              <a:solidFill>
                <a:schemeClr val="tx1"/>
              </a:solidFill>
              <a:latin typeface="Arial" panose="020B0604020202020204" pitchFamily="34" charset="0"/>
            </a:endParaRPr>
          </a:p>
          <a:p>
            <a:endParaRPr lang="en-SG" dirty="0"/>
          </a:p>
        </p:txBody>
      </p:sp>
      <p:pic>
        <p:nvPicPr>
          <p:cNvPr id="6" name="Picture 5">
            <a:extLst>
              <a:ext uri="{FF2B5EF4-FFF2-40B4-BE49-F238E27FC236}">
                <a16:creationId xmlns:a16="http://schemas.microsoft.com/office/drawing/2014/main" id="{114873A6-EFFC-2FBA-89E3-0E7B0D222CB8}"/>
              </a:ext>
            </a:extLst>
          </p:cNvPr>
          <p:cNvPicPr>
            <a:picLocks noChangeAspect="1"/>
          </p:cNvPicPr>
          <p:nvPr/>
        </p:nvPicPr>
        <p:blipFill>
          <a:blip r:embed="rId3"/>
          <a:stretch>
            <a:fillRect/>
          </a:stretch>
        </p:blipFill>
        <p:spPr>
          <a:xfrm>
            <a:off x="7040139" y="4408845"/>
            <a:ext cx="4001058" cy="2029108"/>
          </a:xfrm>
          <a:prstGeom prst="rect">
            <a:avLst/>
          </a:prstGeom>
        </p:spPr>
      </p:pic>
      <p:pic>
        <p:nvPicPr>
          <p:cNvPr id="8" name="Picture 7">
            <a:extLst>
              <a:ext uri="{FF2B5EF4-FFF2-40B4-BE49-F238E27FC236}">
                <a16:creationId xmlns:a16="http://schemas.microsoft.com/office/drawing/2014/main" id="{5D68E562-151A-B2FB-113E-D1F18DD289BA}"/>
              </a:ext>
            </a:extLst>
          </p:cNvPr>
          <p:cNvPicPr>
            <a:picLocks noChangeAspect="1"/>
          </p:cNvPicPr>
          <p:nvPr/>
        </p:nvPicPr>
        <p:blipFill>
          <a:blip r:embed="rId4"/>
          <a:stretch>
            <a:fillRect/>
          </a:stretch>
        </p:blipFill>
        <p:spPr>
          <a:xfrm>
            <a:off x="6792526" y="1302740"/>
            <a:ext cx="4715533" cy="2848373"/>
          </a:xfrm>
          <a:prstGeom prst="rect">
            <a:avLst/>
          </a:prstGeom>
        </p:spPr>
      </p:pic>
      <p:pic>
        <p:nvPicPr>
          <p:cNvPr id="10" name="Picture 9">
            <a:extLst>
              <a:ext uri="{FF2B5EF4-FFF2-40B4-BE49-F238E27FC236}">
                <a16:creationId xmlns:a16="http://schemas.microsoft.com/office/drawing/2014/main" id="{47CFC296-DAD5-531A-FD3B-446FDEBC5464}"/>
              </a:ext>
            </a:extLst>
          </p:cNvPr>
          <p:cNvPicPr>
            <a:picLocks noChangeAspect="1"/>
          </p:cNvPicPr>
          <p:nvPr/>
        </p:nvPicPr>
        <p:blipFill>
          <a:blip r:embed="rId5"/>
          <a:stretch>
            <a:fillRect/>
          </a:stretch>
        </p:blipFill>
        <p:spPr>
          <a:xfrm>
            <a:off x="598858" y="1343221"/>
            <a:ext cx="3995453" cy="2767413"/>
          </a:xfrm>
          <a:prstGeom prst="rect">
            <a:avLst/>
          </a:prstGeom>
        </p:spPr>
      </p:pic>
    </p:spTree>
    <p:extLst>
      <p:ext uri="{BB962C8B-B14F-4D97-AF65-F5344CB8AC3E}">
        <p14:creationId xmlns:p14="http://schemas.microsoft.com/office/powerpoint/2010/main" val="4165381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a:solidFill>
                  <a:srgbClr val="53195D"/>
                </a:solidFill>
                <a:latin typeface="Montserrat"/>
                <a:ea typeface="Montserrat"/>
                <a:cs typeface="Montserrat"/>
                <a:sym typeface="Montserrat"/>
              </a:rPr>
              <a:t>Conclusion</a:t>
            </a:r>
            <a:endParaRPr lang="en-US" sz="1100"/>
          </a:p>
        </p:txBody>
      </p:sp>
      <p:sp>
        <p:nvSpPr>
          <p:cNvPr id="3" name="AutoShape 3"/>
          <p:cNvSpPr/>
          <p:nvPr/>
        </p:nvSpPr>
        <p:spPr>
          <a:xfrm>
            <a:off x="762000" y="1728596"/>
            <a:ext cx="10355766" cy="3802409"/>
          </a:xfrm>
          <a:prstGeom prst="roundRect">
            <a:avLst>
              <a:gd name="adj" fmla="val 0"/>
            </a:avLst>
          </a:prstGeom>
          <a:solidFill>
            <a:srgbClr val="953EA3">
              <a:alpha val="14902"/>
            </a:srgbClr>
          </a:solidFill>
          <a:ln w="25400" cap="flat" cmpd="sng">
            <a:noFill/>
            <a:prstDash val="solid"/>
            <a:round/>
          </a:ln>
        </p:spPr>
        <p:txBody>
          <a:bodyPr vert="horz" wrap="square" lIns="0" tIns="0" rIns="0" bIns="0" rtlCol="0" anchor="t" anchorCtr="0">
            <a:normAutofit/>
          </a:bodyPr>
          <a:lstStyle/>
          <a:p>
            <a:pPr lvl="0" eaLnBrk="0" fontAlgn="base" hangingPunct="0">
              <a:lnSpc>
                <a:spcPct val="200000"/>
              </a:lnSpc>
              <a:spcBef>
                <a:spcPct val="0"/>
              </a:spcBef>
              <a:spcAft>
                <a:spcPct val="0"/>
              </a:spcAft>
              <a:buClrTx/>
            </a:pPr>
            <a:endParaRPr lang="en-US" altLang="en-US" sz="2000" dirty="0">
              <a:solidFill>
                <a:schemeClr val="tx1"/>
              </a:solidFill>
              <a:latin typeface="Arial" panose="020B0604020202020204" pitchFamily="34" charset="0"/>
            </a:endParaRPr>
          </a:p>
          <a:p>
            <a:pPr marL="342900" lvl="0" indent="-34290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Sales driven by selected high-performing categories</a:t>
            </a:r>
          </a:p>
          <a:p>
            <a:pPr marL="342900" lvl="0" indent="-34290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Discounts alone do not define customer value</a:t>
            </a:r>
          </a:p>
          <a:p>
            <a:pPr marL="342900" lvl="0" indent="-34290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Value score reveals true value-for-money products</a:t>
            </a:r>
          </a:p>
          <a:p>
            <a:pPr marL="342900" indent="-342900">
              <a:lnSpc>
                <a:spcPct val="200000"/>
              </a:lnSpc>
              <a:buFont typeface="Wingdings" panose="05000000000000000000" pitchFamily="2" charset="2"/>
              <a:buChar char="§"/>
              <a:defRPr/>
            </a:pPr>
            <a:r>
              <a:rPr lang="en-US" altLang="en-US" sz="2000" dirty="0">
                <a:solidFill>
                  <a:schemeClr val="tx1"/>
                </a:solidFill>
                <a:latin typeface="Arial" panose="020B0604020202020204" pitchFamily="34" charset="0"/>
              </a:rPr>
              <a:t>The project delivers actionable insights for retail decision-making</a:t>
            </a:r>
            <a:endParaRPr lang="en-US" sz="2000" dirty="0"/>
          </a:p>
          <a:p>
            <a:pPr indent="0">
              <a:lnSpc>
                <a:spcPct val="125000"/>
              </a:lnSpc>
              <a:defRPr/>
            </a:pPr>
            <a:endParaRPr lang="en-US" sz="1100" dirty="0"/>
          </a:p>
          <a:p>
            <a:pPr indent="0">
              <a:lnSpc>
                <a:spcPct val="125000"/>
              </a:lnSpc>
              <a:defRPr/>
            </a:pP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A498A24D-848D-6E67-E34F-53C37B14C1F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B04FB7D-AF0C-DB3F-A080-FBB37F6195CE}"/>
              </a:ext>
            </a:extLst>
          </p:cNvPr>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25000"/>
              </a:lnSpc>
              <a:defRPr/>
            </a:pPr>
            <a:r>
              <a:rPr lang="en-US" sz="3600" b="1" i="0" u="none" strike="noStrike" dirty="0">
                <a:solidFill>
                  <a:srgbClr val="53195D"/>
                </a:solidFill>
                <a:latin typeface="Montserrat"/>
                <a:ea typeface="Montserrat"/>
                <a:cs typeface="Montserrat"/>
                <a:sym typeface="Montserrat"/>
              </a:rPr>
              <a:t>Recommendations</a:t>
            </a:r>
            <a:endParaRPr lang="en-US" sz="1100" dirty="0"/>
          </a:p>
        </p:txBody>
      </p:sp>
      <p:sp>
        <p:nvSpPr>
          <p:cNvPr id="3" name="AutoShape 3">
            <a:extLst>
              <a:ext uri="{FF2B5EF4-FFF2-40B4-BE49-F238E27FC236}">
                <a16:creationId xmlns:a16="http://schemas.microsoft.com/office/drawing/2014/main" id="{492BBD5C-6825-C534-609F-3F3D6C28F0E3}"/>
              </a:ext>
            </a:extLst>
          </p:cNvPr>
          <p:cNvSpPr/>
          <p:nvPr/>
        </p:nvSpPr>
        <p:spPr>
          <a:xfrm>
            <a:off x="762000" y="1828800"/>
            <a:ext cx="10422673" cy="3735659"/>
          </a:xfrm>
          <a:prstGeom prst="roundRect">
            <a:avLst>
              <a:gd name="adj" fmla="val 0"/>
            </a:avLst>
          </a:prstGeom>
          <a:solidFill>
            <a:srgbClr val="953EA3">
              <a:alpha val="14902"/>
            </a:srgbClr>
          </a:solidFill>
          <a:ln w="25400" cap="flat" cmpd="sng">
            <a:noFill/>
            <a:prstDash val="solid"/>
            <a:round/>
          </a:ln>
        </p:spPr>
        <p:txBody>
          <a:bodyPr vert="horz" wrap="square" lIns="0" tIns="0" rIns="0" bIns="0" rtlCol="0" anchor="t" anchorCtr="0">
            <a:normAutofit/>
          </a:bodyPr>
          <a:lstStyle/>
          <a:p>
            <a:pPr lvl="0" eaLnBrk="0" fontAlgn="base" hangingPunct="0">
              <a:spcBef>
                <a:spcPct val="0"/>
              </a:spcBef>
              <a:spcAft>
                <a:spcPct val="0"/>
              </a:spcAft>
              <a:buClrTx/>
              <a:buFontTx/>
              <a:buChar char="•"/>
            </a:pPr>
            <a:endParaRPr lang="en-US" altLang="en-US" sz="1800" dirty="0">
              <a:solidFill>
                <a:schemeClr val="tx1"/>
              </a:solidFill>
              <a:latin typeface="Arial" panose="020B0604020202020204" pitchFamily="34" charset="0"/>
            </a:endParaRP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Focus on high-value, high-rating products</a:t>
            </a:r>
          </a:p>
          <a:p>
            <a:pPr marL="28575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Promote high value-score products more prominently</a:t>
            </a:r>
          </a:p>
          <a:p>
            <a:pPr marL="28575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Reduce excessive discounting in low-value categories</a:t>
            </a:r>
          </a:p>
          <a:p>
            <a:pPr marL="285750" lvl="0" indent="-285750" eaLnBrk="0" fontAlgn="base" hangingPunct="0">
              <a:lnSpc>
                <a:spcPct val="200000"/>
              </a:lnSpc>
              <a:spcBef>
                <a:spcPct val="0"/>
              </a:spcBef>
              <a:spcAft>
                <a:spcPct val="0"/>
              </a:spcAft>
              <a:buClrTx/>
              <a:buFont typeface="Wingdings" panose="05000000000000000000" pitchFamily="2" charset="2"/>
              <a:buChar char="§"/>
            </a:pPr>
            <a:r>
              <a:rPr lang="en-US" altLang="en-US" sz="2000" dirty="0">
                <a:solidFill>
                  <a:schemeClr val="tx1"/>
                </a:solidFill>
                <a:latin typeface="Arial" panose="020B0604020202020204" pitchFamily="34" charset="0"/>
              </a:rPr>
              <a:t>Use reviews to guide pricing and assortment</a:t>
            </a:r>
          </a:p>
          <a:p>
            <a:pPr marL="285750" lvl="0" indent="-285750" eaLnBrk="0" fontAlgn="base" hangingPunct="0">
              <a:lnSpc>
                <a:spcPct val="200000"/>
              </a:lnSpc>
              <a:spcBef>
                <a:spcPct val="0"/>
              </a:spcBef>
              <a:spcAft>
                <a:spcPct val="0"/>
              </a:spcAft>
              <a:buClrTx/>
              <a:buFont typeface="Wingdings" panose="05000000000000000000" pitchFamily="2" charset="2"/>
              <a:buChar char="§"/>
            </a:pPr>
            <a:endParaRPr lang="en-US" altLang="en-US" sz="1800" dirty="0">
              <a:solidFill>
                <a:schemeClr val="tx1"/>
              </a:solidFill>
              <a:latin typeface="Arial" panose="020B0604020202020204" pitchFamily="34" charset="0"/>
            </a:endParaRPr>
          </a:p>
          <a:p>
            <a:pPr marL="285750" lvl="0" indent="-285750" eaLnBrk="0" fontAlgn="base" hangingPunct="0">
              <a:lnSpc>
                <a:spcPct val="200000"/>
              </a:lnSpc>
              <a:spcBef>
                <a:spcPct val="0"/>
              </a:spcBef>
              <a:spcAft>
                <a:spcPct val="0"/>
              </a:spcAft>
              <a:buClrTx/>
              <a:buFont typeface="Wingdings" panose="05000000000000000000" pitchFamily="2" charset="2"/>
              <a:buChar char="§"/>
            </a:pPr>
            <a:endParaRPr lang="en-US" altLang="en-US" sz="1800" dirty="0">
              <a:solidFill>
                <a:schemeClr val="tx1"/>
              </a:solidFill>
              <a:latin typeface="Arial" panose="020B0604020202020204" pitchFamily="34" charset="0"/>
            </a:endParaRPr>
          </a:p>
          <a:p>
            <a:pPr indent="0" algn="l">
              <a:lnSpc>
                <a:spcPct val="125000"/>
              </a:lnSpc>
              <a:defRPr/>
            </a:pPr>
            <a:endParaRPr lang="en-US" sz="1100" dirty="0"/>
          </a:p>
        </p:txBody>
      </p:sp>
    </p:spTree>
    <p:extLst>
      <p:ext uri="{BB962C8B-B14F-4D97-AF65-F5344CB8AC3E}">
        <p14:creationId xmlns:p14="http://schemas.microsoft.com/office/powerpoint/2010/main" val="1937909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53C31A-438F-7AC4-0767-2619E5061361}"/>
              </a:ext>
            </a:extLst>
          </p:cNvPr>
          <p:cNvSpPr/>
          <p:nvPr/>
        </p:nvSpPr>
        <p:spPr>
          <a:xfrm>
            <a:off x="0" y="19920"/>
            <a:ext cx="12192000" cy="685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AutoShape 5">
            <a:extLst>
              <a:ext uri="{FF2B5EF4-FFF2-40B4-BE49-F238E27FC236}">
                <a16:creationId xmlns:a16="http://schemas.microsoft.com/office/drawing/2014/main" id="{F7357848-D842-3D7D-589B-B7E789287B06}"/>
              </a:ext>
            </a:extLst>
          </p:cNvPr>
          <p:cNvSpPr/>
          <p:nvPr/>
        </p:nvSpPr>
        <p:spPr>
          <a:xfrm>
            <a:off x="0" y="3657600"/>
            <a:ext cx="12192000" cy="3190797"/>
          </a:xfrm>
          <a:prstGeom prst="roundRect">
            <a:avLst>
              <a:gd name="adj" fmla="val 732"/>
            </a:avLst>
          </a:prstGeom>
          <a:solidFill>
            <a:srgbClr val="441D4B">
              <a:alpha val="89804"/>
            </a:srgbClr>
          </a:solidFill>
          <a:ln w="25400" cap="flat" cmpd="sng">
            <a:noFill/>
            <a:prstDash val="solid"/>
            <a:round/>
          </a:ln>
        </p:spPr>
        <p:txBody>
          <a:bodyPr vert="horz" wrap="square" lIns="0" tIns="0" rIns="0" bIns="0" rtlCol="0" anchor="ctr" anchorCtr="0">
            <a:normAutofit/>
          </a:bodyPr>
          <a:lstStyle/>
          <a:p>
            <a:pPr indent="0" algn="ctr">
              <a:lnSpc>
                <a:spcPct val="125000"/>
              </a:lnSpc>
              <a:defRPr/>
            </a:pPr>
            <a:endParaRPr lang="en-US" sz="1100" dirty="0"/>
          </a:p>
        </p:txBody>
      </p:sp>
      <p:sp>
        <p:nvSpPr>
          <p:cNvPr id="4" name="AutoShape 4"/>
          <p:cNvSpPr/>
          <p:nvPr/>
        </p:nvSpPr>
        <p:spPr>
          <a:xfrm>
            <a:off x="0" y="2540000"/>
            <a:ext cx="12192000" cy="1270000"/>
          </a:xfrm>
          <a:prstGeom prst="rect">
            <a:avLst/>
          </a:prstGeom>
          <a:noFill/>
          <a:ln w="12700" cap="flat" cmpd="sng">
            <a:noFill/>
            <a:prstDash val="solid"/>
            <a:round/>
          </a:ln>
        </p:spPr>
        <p:txBody>
          <a:bodyPr vert="horz" wrap="square" lIns="0" tIns="0" rIns="0" bIns="0" rtlCol="0" anchor="ctr" anchorCtr="0">
            <a:normAutofit/>
          </a:bodyPr>
          <a:lstStyle/>
          <a:p>
            <a:pPr indent="0" algn="ctr">
              <a:lnSpc>
                <a:spcPct val="125000"/>
              </a:lnSpc>
              <a:defRPr/>
            </a:pPr>
            <a:r>
              <a:rPr lang="en-US" sz="4200" b="1" i="0" u="none" strike="noStrike">
                <a:solidFill>
                  <a:srgbClr val="FFFFFF"/>
                </a:solidFill>
                <a:latin typeface="Montserrat"/>
                <a:ea typeface="Montserrat"/>
                <a:cs typeface="Montserrat"/>
                <a:sym typeface="Montserrat"/>
              </a:rPr>
              <a:t>Thank You</a:t>
            </a:r>
            <a:endParaRPr lang="en-US" sz="1100"/>
          </a:p>
        </p:txBody>
      </p:sp>
      <p:pic>
        <p:nvPicPr>
          <p:cNvPr id="6" name="Picture 5">
            <a:extLst>
              <a:ext uri="{FF2B5EF4-FFF2-40B4-BE49-F238E27FC236}">
                <a16:creationId xmlns:a16="http://schemas.microsoft.com/office/drawing/2014/main" id="{C401A596-4CE9-C1F4-E659-A3DE7EDA1DC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8800"/>
                    </a14:imgEffect>
                    <a14:imgEffect>
                      <a14:saturation sat="300000"/>
                    </a14:imgEffect>
                  </a14:imgLayer>
                </a14:imgProps>
              </a:ext>
            </a:extLst>
          </a:blip>
          <a:stretch>
            <a:fillRect/>
          </a:stretch>
        </p:blipFill>
        <p:spPr>
          <a:xfrm>
            <a:off x="494321" y="301083"/>
            <a:ext cx="11203308" cy="6272902"/>
          </a:xfrm>
          <a:prstGeom prst="ellipse">
            <a:avLst/>
          </a:prstGeom>
          <a:ln>
            <a:noFill/>
          </a:ln>
          <a:effectLst>
            <a:softEdge rad="112500"/>
          </a:effectLst>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2788</TotalTime>
  <Words>775</Words>
  <Application>Microsoft Office PowerPoint</Application>
  <PresentationFormat>Widescreen</PresentationFormat>
  <Paragraphs>355</Paragraphs>
  <Slides>19</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Montserrat</vt:lpstr>
      <vt:lpstr>Open Sans</vt:lpstr>
      <vt:lpstr>Poppins</vt:lpstr>
      <vt:lpstr>Wingdings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Sheeba Soosai</dc:creator>
  <cp:lastModifiedBy>Sheeba Soosai</cp:lastModifiedBy>
  <cp:revision>12</cp:revision>
  <dcterms:modified xsi:type="dcterms:W3CDTF">2026-02-10T09:19:05Z</dcterms:modified>
</cp:coreProperties>
</file>